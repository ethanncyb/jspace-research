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fa87857ce294263" /><Relationship Type="http://schemas.openxmlformats.org/officeDocument/2006/relationships/extended-properties" Target="/docProps/app.xml" Id="R7415527f323d48e5" /><Relationship Type="http://schemas.openxmlformats.org/officeDocument/2006/relationships/officeDocument" Target="/ppt/presentation.xml" Id="R98e386dafbad48d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24236f427a4479a"/>
  </p:sldMasterIdLst>
  <p:notesMasterIdLst>
    <p:notesMasterId xmlns:r="http://schemas.openxmlformats.org/officeDocument/2006/relationships" r:id="Rf5f4e6eaf4414b40"/>
  </p:notesMasterIdLst>
  <p:sldIdLst>
    <p:sldId xmlns:r="http://schemas.openxmlformats.org/officeDocument/2006/relationships" id="256" r:id="Re56f9850192343e3"/>
    <p:sldId xmlns:r="http://schemas.openxmlformats.org/officeDocument/2006/relationships" id="257" r:id="R7de8d5b525964602"/>
    <p:sldId xmlns:r="http://schemas.openxmlformats.org/officeDocument/2006/relationships" id="258" r:id="R0ffe345efa614206"/>
    <p:sldId xmlns:r="http://schemas.openxmlformats.org/officeDocument/2006/relationships" id="259" r:id="R583ea77a23f144b1"/>
    <p:sldId xmlns:r="http://schemas.openxmlformats.org/officeDocument/2006/relationships" id="260" r:id="R37e1b9449d764c9e"/>
    <p:sldId xmlns:r="http://schemas.openxmlformats.org/officeDocument/2006/relationships" id="261" r:id="Rc81a90e0eaec44c9"/>
    <p:sldId xmlns:r="http://schemas.openxmlformats.org/officeDocument/2006/relationships" id="262" r:id="Re4bb1ac2e7424577"/>
    <p:sldId xmlns:r="http://schemas.openxmlformats.org/officeDocument/2006/relationships" id="263" r:id="R0e4c86d3fc96448b"/>
    <p:sldId xmlns:r="http://schemas.openxmlformats.org/officeDocument/2006/relationships" id="264" r:id="Rf332f8bb9fa541e8"/>
    <p:sldId xmlns:r="http://schemas.openxmlformats.org/officeDocument/2006/relationships" id="265" r:id="R36384171aabd4f6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77b297b29514b63" /><Relationship Type="http://schemas.openxmlformats.org/officeDocument/2006/relationships/slideMaster" Target="/ppt/slideMasters/slideMaster1.xml" Id="R824236f427a4479a" /><Relationship Type="http://schemas.openxmlformats.org/officeDocument/2006/relationships/notesMaster" Target="/ppt/notesMasters/notesMaster1.xml" Id="Rf5f4e6eaf4414b40" /><Relationship Type="http://schemas.openxmlformats.org/officeDocument/2006/relationships/presProps" Target="/ppt/presProps.xml" Id="Re643d1815fbc4e46" /><Relationship Type="http://schemas.openxmlformats.org/officeDocument/2006/relationships/tableStyles" Target="/ppt/tableStyles.xml" Id="R8a47a4632995479a" /><Relationship Type="http://schemas.openxmlformats.org/officeDocument/2006/relationships/slide" Target="/ppt/slides/slide1.xml" Id="Re56f9850192343e3" /><Relationship Type="http://schemas.openxmlformats.org/officeDocument/2006/relationships/slide" Target="/ppt/slides/slide2.xml" Id="R7de8d5b525964602" /><Relationship Type="http://schemas.openxmlformats.org/officeDocument/2006/relationships/slide" Target="/ppt/slides/slide3.xml" Id="R0ffe345efa614206" /><Relationship Type="http://schemas.openxmlformats.org/officeDocument/2006/relationships/slide" Target="/ppt/slides/slide4.xml" Id="R583ea77a23f144b1" /><Relationship Type="http://schemas.openxmlformats.org/officeDocument/2006/relationships/slide" Target="/ppt/slides/slide5.xml" Id="R37e1b9449d764c9e" /><Relationship Type="http://schemas.openxmlformats.org/officeDocument/2006/relationships/slide" Target="/ppt/slides/slide6.xml" Id="Rc81a90e0eaec44c9" /><Relationship Type="http://schemas.openxmlformats.org/officeDocument/2006/relationships/slide" Target="/ppt/slides/slide7.xml" Id="Re4bb1ac2e7424577" /><Relationship Type="http://schemas.openxmlformats.org/officeDocument/2006/relationships/slide" Target="/ppt/slides/slide8.xml" Id="R0e4c86d3fc96448b" /><Relationship Type="http://schemas.openxmlformats.org/officeDocument/2006/relationships/slide" Target="/ppt/slides/slide9.xml" Id="Rf332f8bb9fa541e8" /><Relationship Type="http://schemas.openxmlformats.org/officeDocument/2006/relationships/slide" Target="/ppt/slides/slide10.xml" Id="R36384171aabd4f6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1a68718888f4ca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451113ce1884de8" /><Relationship Type="http://schemas.openxmlformats.org/officeDocument/2006/relationships/notesMaster" Target="/ppt/notesMasters/notesMaster1.xml" Id="Rfe9b40dfdc7448b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b26be06911648f1" /><Relationship Type="http://schemas.openxmlformats.org/officeDocument/2006/relationships/notesMaster" Target="/ppt/notesMasters/notesMaster1.xml" Id="R50204dfd373047f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b7e79097cc04ddf" /><Relationship Type="http://schemas.openxmlformats.org/officeDocument/2006/relationships/notesMaster" Target="/ppt/notesMasters/notesMaster1.xml" Id="R6c48379a3d2e471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8f65e88c1bb4e7b" /><Relationship Type="http://schemas.openxmlformats.org/officeDocument/2006/relationships/notesMaster" Target="/ppt/notesMasters/notesMaster1.xml" Id="Rd17501aad2af470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6837b50bd0b4772" /><Relationship Type="http://schemas.openxmlformats.org/officeDocument/2006/relationships/notesMaster" Target="/ppt/notesMasters/notesMaster1.xml" Id="R59a8f1d35e84415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d136538fe6d475d" /><Relationship Type="http://schemas.openxmlformats.org/officeDocument/2006/relationships/notesMaster" Target="/ppt/notesMasters/notesMaster1.xml" Id="R1dd26b775898474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eb109cca67c45a5" /><Relationship Type="http://schemas.openxmlformats.org/officeDocument/2006/relationships/notesMaster" Target="/ppt/notesMasters/notesMaster1.xml" Id="R4f4c6de3fae1481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9226a6f9ed64924" /><Relationship Type="http://schemas.openxmlformats.org/officeDocument/2006/relationships/notesMaster" Target="/ppt/notesMasters/notesMaster1.xml" Id="R8015eb6ae7334fa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dee7bc107d1407d" /><Relationship Type="http://schemas.openxmlformats.org/officeDocument/2006/relationships/notesMaster" Target="/ppt/notesMasters/notesMaster1.xml" Id="R8efef34f993543e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ef80db0a4c246c4" /><Relationship Type="http://schemas.openxmlformats.org/officeDocument/2006/relationships/notesMaster" Target="/ppt/notesMasters/notesMaster1.xml" Id="R4e8d68081c1c4ce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central idea: use internal activation changes as an early-warning signal, then train the detector against an evolving attacker.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config.yaml</a:t>
            </a:r>
          </a:p>
          <a:p xmlns:a="http://schemas.openxmlformats.org/drawingml/2006/main">
            <a:r>
              <a:t>- git rev-parse HEAD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Clarify scope: the feature branch contains the older J-Space work as history; b0d2874 is the PromptGuard feature addition being showcased.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git diff HEAD^..HEAD --stat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promptguard/</a:t>
            </a:r>
          </a:p>
          <a:p xmlns:a="http://schemas.openxmlformats.org/drawingml/2006/main">
            <a:r>
              <a:t>- config.yaml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right. The key implementation choice is to compare activation state before and after appending untrusted text, then aggregate layerwise linear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promptguard/drift_probe.py</a:t>
            </a:r>
          </a:p>
          <a:p xmlns:a="http://schemas.openxmlformats.org/drawingml/2006/main">
            <a:r>
              <a:t>- promptguard/model_hooks.py</a:t>
            </a:r>
          </a:p>
          <a:p xmlns:a="http://schemas.openxmlformats.org/drawingml/2006/main">
            <a:r>
              <a:t>- promptguard/intervention.py</a:t>
            </a:r>
          </a:p>
          <a:p xmlns:a="http://schemas.openxmlformats.org/drawingml/2006/main">
            <a:r>
              <a:t>- config.yaml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Stress the containment decisions: mutations are templates, embedding-deduplicated, sandbox-validated, and confidence-gated. The same probe weights continue learning rather than restarting every round.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promptguard/evolving_attacker.py</a:t>
            </a:r>
          </a:p>
          <a:p xmlns:a="http://schemas.openxmlformats.org/drawingml/2006/main">
            <a:r>
              <a:t>- promptguard/evolving_guard.py</a:t>
            </a:r>
          </a:p>
          <a:p xmlns:a="http://schemas.openxmlformats.org/drawingml/2006/main">
            <a:r>
              <a:t>- promptguard/evolution_loop.py</a:t>
            </a:r>
          </a:p>
          <a:p xmlns:a="http://schemas.openxmlformats.org/drawingml/2006/main">
            <a:r>
              <a:t>- promptguard/olares_client.py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this is a one-time pre-generation decision in the current implementation. The circuit breaker removes projection onto the probe's drift direction; hard stop never calls generation.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promptguard/intervention.py</a:t>
            </a:r>
          </a:p>
          <a:p xmlns:a="http://schemas.openxmlformats.org/drawingml/2006/main">
            <a:r>
              <a:t>- config.yaml</a:t>
            </a:r>
          </a:p>
          <a:p xmlns:a="http://schemas.openxmlformats.org/drawingml/2006/main">
            <a:r>
              <a:t>- tests/test_promptguard.py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chart averages three full ten-round runs. The held-out result is the encouraging headline; the active-attack rebounds are the honest warning that the evolving game remains unstable.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outputs/evolution_multiseed/heldout_asr_mean_std.csv</a:t>
            </a:r>
          </a:p>
          <a:p xmlns:a="http://schemas.openxmlformats.org/drawingml/2006/main">
            <a:r>
              <a:t>- outputs/evolution_multiseed/seed_7/run_summary.json</a:t>
            </a:r>
          </a:p>
          <a:p xmlns:a="http://schemas.openxmlformats.org/drawingml/2006/main">
            <a:r>
              <a:t>- outputs/evolution_multiseed/seed_19/run_summary.json</a:t>
            </a:r>
          </a:p>
          <a:p xmlns:a="http://schemas.openxmlformats.org/drawingml/2006/main">
            <a:r>
              <a:t>- outputs/evolution_multiseed/seed_31/run_summary.json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diagnostic reuses the same 21 prompts and raw activation deltas for both checkpoints. Guard-10 raises early-layer mean probabilities sharply: for translated attacks, layer 11 rises from 69.4% to effectively 100%. All tested examples are detected at every layer in both checkpoints, so this slide demonstrates stronger confidence, not a new increase in detection rate. Saturation could mean better alignment or overconfidence and needs benign calibration.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outputs/layer_diagnostic/guard_000/layer_summary.csv</a:t>
            </a:r>
          </a:p>
          <a:p xmlns:a="http://schemas.openxmlformats.org/drawingml/2006/main">
            <a:r>
              <a:t>- outputs/layer_diagnostic/guard_010/layer_summary.csv</a:t>
            </a:r>
          </a:p>
          <a:p xmlns:a="http://schemas.openxmlformats.org/drawingml/2006/main">
            <a:r>
              <a:t>- outputs/layer_diagnostic/guard_000/metadata.json</a:t>
            </a:r>
          </a:p>
          <a:p xmlns:a="http://schemas.openxmlformats.org/drawingml/2006/main">
            <a:r>
              <a:t>- outputs/layer_diagnostic/guard_010/metadata.json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answer 'can we audit the result?' The answer is yes locally: there are per-example scores, aggregate tables, checkpoints, attack logs, strategy snapshots, and review queues. The packaging gap is that outputs are currently gitignored.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outputs/layer_diagnostic/guard_000/</a:t>
            </a:r>
          </a:p>
          <a:p xmlns:a="http://schemas.openxmlformats.org/drawingml/2006/main">
            <a:r>
              <a:t>- outputs/layer_diagnostic/guard_010/</a:t>
            </a:r>
          </a:p>
          <a:p xmlns:a="http://schemas.openxmlformats.org/drawingml/2006/main">
            <a:r>
              <a:t>- outputs/evolution_multiseed/seed_7/</a:t>
            </a:r>
          </a:p>
          <a:p xmlns:a="http://schemas.openxmlformats.org/drawingml/2006/main">
            <a:r>
              <a:t>- .gitignore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Tests were rerun immediately before deck creation: 70 passed in 3.33 seconds. The transformed count is 154 per seed from seven base held-out prompts across multiple evaluation families.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uv run pytest -q on 2026-08-17</a:t>
            </a:r>
          </a:p>
          <a:p xmlns:a="http://schemas.openxmlformats.org/drawingml/2006/main">
            <a:r>
              <a:t>- outputs/evolution_multiseed/report.md</a:t>
            </a:r>
          </a:p>
          <a:p xmlns:a="http://schemas.openxmlformats.org/drawingml/2006/main">
            <a:r>
              <a:t>- outputs/evolution_multiseed/seed_7/run_metadata.json</a:t>
            </a:r>
          </a:p>
          <a:p xmlns:a="http://schemas.openxmlformats.org/drawingml/2006/main">
            <a:r>
              <a:t>- 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on the decision-quality next step: define an independent validation protocol first, then measure whether added sophistication improves external validity rather than only optimizing the current game.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config.yaml</a:t>
            </a:r>
          </a:p>
          <a:p xmlns:a="http://schemas.openxmlformats.org/drawingml/2006/main">
            <a:r>
              <a:t>- outputs/evolution_multiseed/report.md</a:t>
            </a:r>
          </a:p>
          <a:p xmlns:a="http://schemas.openxmlformats.org/drawingml/2006/main">
            <a:r>
              <a:t>- git diff HEAD^..HEAD --stat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db2575d8bb4b5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1595480c7c24c31" /><Relationship Type="http://schemas.openxmlformats.org/officeDocument/2006/relationships/slideLayout" Target="/ppt/slideLayouts/slideLayout1.xml" Id="R792a95caa55c4f3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92a95caa55c4f3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b51814f9a94877" /><Relationship Type="http://schemas.openxmlformats.org/officeDocument/2006/relationships/notesSlide" Target="/ppt/notesSlides/notesSlide1.xml" Id="Rbe1dba11a037443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d2374b165e4534" /><Relationship Type="http://schemas.openxmlformats.org/officeDocument/2006/relationships/notesSlide" Target="/ppt/notesSlides/notesSlide2.xml" Id="Re06297af44d74cc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da6bee13984083" /><Relationship Type="http://schemas.openxmlformats.org/officeDocument/2006/relationships/notesSlide" Target="/ppt/notesSlides/notesSlide3.xml" Id="Rda118e1c63da441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08de323edf4484" /><Relationship Type="http://schemas.openxmlformats.org/officeDocument/2006/relationships/notesSlide" Target="/ppt/notesSlides/notesSlide4.xml" Id="Rc58c0af419114e5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e1abfed3cb498f" /><Relationship Type="http://schemas.openxmlformats.org/officeDocument/2006/relationships/notesSlide" Target="/ppt/notesSlides/notesSlide5.xml" Id="R50b0164f4e4a45c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555f958bdf4bfe" /><Relationship Type="http://schemas.openxmlformats.org/officeDocument/2006/relationships/chart" Target="/ppt/slides/charts/chart1.xml" Id="R81316aac3b7a4218" /><Relationship Type="http://schemas.openxmlformats.org/officeDocument/2006/relationships/notesSlide" Target="/ppt/notesSlides/notesSlide6.xml" Id="R85aa0c48968443c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d0dc26316f4f9d" /><Relationship Type="http://schemas.openxmlformats.org/officeDocument/2006/relationships/chart" Target="/ppt/slides/charts/chart2.xml" Id="Rafff2529d5324e1e" /><Relationship Type="http://schemas.openxmlformats.org/officeDocument/2006/relationships/chart" Target="/ppt/slides/charts/chart3.xml" Id="R022abe4b7fca4662" /><Relationship Type="http://schemas.openxmlformats.org/officeDocument/2006/relationships/notesSlide" Target="/ppt/notesSlides/notesSlide7.xml" Id="R5e8c8eb8e21d44e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b296bdcc374153" /><Relationship Type="http://schemas.openxmlformats.org/officeDocument/2006/relationships/notesSlide" Target="/ppt/notesSlides/notesSlide8.xml" Id="R23bb6a611c7a4ac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2950ff1dc54c5c" /><Relationship Type="http://schemas.openxmlformats.org/officeDocument/2006/relationships/notesSlide" Target="/ppt/notesSlides/notesSlide9.xml" Id="R0b79d5985ed14dc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bec1885d0b4172" /><Relationship Type="http://schemas.openxmlformats.org/officeDocument/2006/relationships/notesSlide" Target="/ppt/notesSlides/notesSlide10.xml" Id="R95c1f34fcf644fd6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Active attack ASR</c:v>
          </c:tx>
          <c:spPr>
            <a:ln xmlns:a="http://schemas.openxmlformats.org/drawingml/2006/main" w="38100">
              <a:solidFill>
                <a:srgbClr val="D54B5B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D54B5B"/>
              </a:solidFill>
            </c:spPr>
          </c:marker>
          <c:cat>
            <c:numLit>
              <c:formatCode>General</c:formatCode>
              <c:ptCount val="10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  <c:pt idx="9">
                <c:v>10</c:v>
              </c:pt>
            </c:numLit>
          </c:cat>
          <c:val>
            <c:numLit>
              <c:formatCode>0%</c:formatCode>
              <c:ptCount val="10"/>
              <c:pt idx="0">
                <c:v>0.6202</c:v>
              </c:pt>
              <c:pt idx="1">
                <c:v>0.3411</c:v>
              </c:pt>
              <c:pt idx="2">
                <c:v>0.155</c:v>
              </c:pt>
              <c:pt idx="3">
                <c:v>0.0078</c:v>
              </c:pt>
              <c:pt idx="4">
                <c:v>0.0465</c:v>
              </c:pt>
              <c:pt idx="5">
                <c:v>0.031</c:v>
              </c:pt>
              <c:pt idx="6">
                <c:v>0</c:v>
              </c:pt>
              <c:pt idx="7">
                <c:v>0.0155</c:v>
              </c:pt>
              <c:pt idx="8">
                <c:v>0.0775</c:v>
              </c:pt>
              <c:pt idx="9">
                <c:v>0.0465</c:v>
              </c:pt>
            </c:numLit>
          </c:val>
        </c:ser>
        <c:ser>
          <c:idx val="1"/>
          <c:order val="1"/>
          <c:tx>
            <c:v>Held-out ASR</c:v>
          </c:tx>
          <c:spPr>
            <a:ln xmlns:a="http://schemas.openxmlformats.org/drawingml/2006/main" w="38100">
              <a:solidFill>
                <a:srgbClr val="3D8DFF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3D8DFF"/>
              </a:solidFill>
            </c:spPr>
          </c:marker>
          <c:cat>
            <c:numLit>
              <c:formatCode>General</c:formatCode>
              <c:ptCount val="10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  <c:pt idx="9">
                <c:v>10</c:v>
              </c:pt>
            </c:numLit>
          </c:cat>
          <c:val>
            <c:numLit>
              <c:formatCode>0%</c:formatCode>
              <c:ptCount val="10"/>
              <c:pt idx="0">
                <c:v>0.0541</c:v>
              </c:pt>
              <c:pt idx="1">
                <c:v>0.013</c:v>
              </c:pt>
              <c:pt idx="2">
                <c:v>0</c:v>
              </c:pt>
              <c:pt idx="3">
                <c:v>0.0065</c:v>
              </c:pt>
              <c:pt idx="4">
                <c:v>0.0043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  <c:pt idx="8">
                <c:v>0</c:v>
              </c:pt>
              <c:pt idx="9">
                <c:v>0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5F6670"/>
                    </a:solidFill>
                  </a:rPr>
                  <a:t>Evolution round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5F6670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67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0.7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8EB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5F6670"/>
                    </a:solidFill>
                  </a:rPr>
                  <a:t>Attack success rate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5F6670"/>
                  </a:solidFill>
                </a:defRPr>
              </a:pPr>
            </a:p>
          </c:txPr>
        </c:title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670"/>
                </a:solidFill>
              </a:defRPr>
            </a:pPr>
          </a:p>
        </c:txPr>
        <c:crossAx val="48650112"/>
        <c:crossBetween val="between"/>
        <c:majorUnit val="0.1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5F6670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raw control</c:v>
          </c:tx>
          <c:spPr>
            <a:ln xmlns:a="http://schemas.openxmlformats.org/drawingml/2006/main" w="28575">
              <a:solidFill>
                <a:srgbClr val="587A98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587A98"/>
              </a:solidFill>
            </c:spPr>
          </c:marker>
          <c:cat>
            <c:numLit>
              <c:formatCode>General</c:formatCode>
              <c:ptCount val="8"/>
              <c:pt idx="0">
                <c:v>3</c:v>
              </c:pt>
              <c:pt idx="1">
                <c:v>7</c:v>
              </c:pt>
              <c:pt idx="2">
                <c:v>11</c:v>
              </c:pt>
              <c:pt idx="3">
                <c:v>15</c:v>
              </c:pt>
              <c:pt idx="4">
                <c:v>19</c:v>
              </c:pt>
              <c:pt idx="5">
                <c:v>23</c:v>
              </c:pt>
              <c:pt idx="6">
                <c:v>27</c:v>
              </c:pt>
              <c:pt idx="7">
                <c:v>31</c:v>
              </c:pt>
            </c:numLit>
          </c:cat>
          <c:val>
            <c:numLit>
              <c:formatCode>0%</c:formatCode>
              <c:ptCount val="8"/>
              <c:pt idx="0">
                <c:v>0.8848</c:v>
              </c:pt>
              <c:pt idx="1">
                <c:v>0.8978</c:v>
              </c:pt>
              <c:pt idx="2">
                <c:v>0.9074</c:v>
              </c:pt>
              <c:pt idx="3">
                <c:v>0.935</c:v>
              </c:pt>
              <c:pt idx="4">
                <c:v>0.9736</c:v>
              </c:pt>
              <c:pt idx="5">
                <c:v>0.9874</c:v>
              </c:pt>
              <c:pt idx="6">
                <c:v>0.9964</c:v>
              </c:pt>
              <c:pt idx="7">
                <c:v>1</c:v>
              </c:pt>
            </c:numLit>
          </c:val>
        </c:ser>
        <c:ser>
          <c:idx val="1"/>
          <c:order val="1"/>
          <c:tx>
            <c:v>acrostic</c:v>
          </c:tx>
          <c:spPr>
            <a:ln xmlns:a="http://schemas.openxmlformats.org/drawingml/2006/main" w="28575">
              <a:solidFill>
                <a:srgbClr val="D54B5B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D54B5B"/>
              </a:solidFill>
            </c:spPr>
          </c:marker>
          <c:cat>
            <c:numLit>
              <c:formatCode>General</c:formatCode>
              <c:ptCount val="8"/>
              <c:pt idx="0">
                <c:v>3</c:v>
              </c:pt>
              <c:pt idx="1">
                <c:v>7</c:v>
              </c:pt>
              <c:pt idx="2">
                <c:v>11</c:v>
              </c:pt>
              <c:pt idx="3">
                <c:v>15</c:v>
              </c:pt>
              <c:pt idx="4">
                <c:v>19</c:v>
              </c:pt>
              <c:pt idx="5">
                <c:v>23</c:v>
              </c:pt>
              <c:pt idx="6">
                <c:v>27</c:v>
              </c:pt>
              <c:pt idx="7">
                <c:v>31</c:v>
              </c:pt>
            </c:numLit>
          </c:cat>
          <c:val>
            <c:numLit>
              <c:formatCode>0%</c:formatCode>
              <c:ptCount val="8"/>
              <c:pt idx="0">
                <c:v>0.8801</c:v>
              </c:pt>
              <c:pt idx="1">
                <c:v>0.8974</c:v>
              </c:pt>
              <c:pt idx="2">
                <c:v>0.9073</c:v>
              </c:pt>
              <c:pt idx="3">
                <c:v>0.9369</c:v>
              </c:pt>
              <c:pt idx="4">
                <c:v>0.967</c:v>
              </c:pt>
              <c:pt idx="5">
                <c:v>0.9762</c:v>
              </c:pt>
              <c:pt idx="6">
                <c:v>0.9928</c:v>
              </c:pt>
              <c:pt idx="7">
                <c:v>1</c:v>
              </c:pt>
            </c:numLit>
          </c:val>
        </c:ser>
        <c:ser>
          <c:idx val="2"/>
          <c:order val="2"/>
          <c:tx>
            <c:v>translated</c:v>
          </c:tx>
          <c:spPr>
            <a:ln xmlns:a="http://schemas.openxmlformats.org/drawingml/2006/main" w="28575">
              <a:solidFill>
                <a:srgbClr val="F59E5B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F59E5B"/>
              </a:solidFill>
            </c:spPr>
          </c:marker>
          <c:cat>
            <c:numLit>
              <c:formatCode>General</c:formatCode>
              <c:ptCount val="8"/>
              <c:pt idx="0">
                <c:v>3</c:v>
              </c:pt>
              <c:pt idx="1">
                <c:v>7</c:v>
              </c:pt>
              <c:pt idx="2">
                <c:v>11</c:v>
              </c:pt>
              <c:pt idx="3">
                <c:v>15</c:v>
              </c:pt>
              <c:pt idx="4">
                <c:v>19</c:v>
              </c:pt>
              <c:pt idx="5">
                <c:v>23</c:v>
              </c:pt>
              <c:pt idx="6">
                <c:v>27</c:v>
              </c:pt>
              <c:pt idx="7">
                <c:v>31</c:v>
              </c:pt>
            </c:numLit>
          </c:cat>
          <c:val>
            <c:numLit>
              <c:formatCode>0%</c:formatCode>
              <c:ptCount val="8"/>
              <c:pt idx="0">
                <c:v>0.805</c:v>
              </c:pt>
              <c:pt idx="1">
                <c:v>0.7634</c:v>
              </c:pt>
              <c:pt idx="2">
                <c:v>0.6943</c:v>
              </c:pt>
              <c:pt idx="3">
                <c:v>0.7536</c:v>
              </c:pt>
              <c:pt idx="4">
                <c:v>0.8214</c:v>
              </c:pt>
              <c:pt idx="5">
                <c:v>0.8288</c:v>
              </c:pt>
              <c:pt idx="6">
                <c:v>0.9466</c:v>
              </c:pt>
              <c:pt idx="7">
                <c:v>0.9827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125">
                    <a:solidFill>
                      <a:srgbClr val="5F6670"/>
                    </a:solidFill>
                  </a:rPr>
                  <a:t>Full-attention layer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5F6670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F667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.65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8EB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125">
                    <a:solidFill>
                      <a:srgbClr val="5F6670"/>
                    </a:solidFill>
                  </a:rPr>
                  <a:t>Mean drift probability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5F6670"/>
                  </a:solidFill>
                </a:defRPr>
              </a:pPr>
            </a:p>
          </c:txPr>
        </c:title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F6670"/>
                </a:solidFill>
              </a:defRPr>
            </a:pPr>
          </a:p>
        </c:txPr>
        <c:crossAx val="48650112"/>
        <c:crossBetween val="between"/>
        <c:majorUnit val="0.0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5F6670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raw control</c:v>
          </c:tx>
          <c:spPr>
            <a:ln xmlns:a="http://schemas.openxmlformats.org/drawingml/2006/main" w="28575">
              <a:solidFill>
                <a:srgbClr val="587A98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587A98"/>
              </a:solidFill>
            </c:spPr>
          </c:marker>
          <c:cat>
            <c:numLit>
              <c:formatCode>General</c:formatCode>
              <c:ptCount val="8"/>
              <c:pt idx="0">
                <c:v>3</c:v>
              </c:pt>
              <c:pt idx="1">
                <c:v>7</c:v>
              </c:pt>
              <c:pt idx="2">
                <c:v>11</c:v>
              </c:pt>
              <c:pt idx="3">
                <c:v>15</c:v>
              </c:pt>
              <c:pt idx="4">
                <c:v>19</c:v>
              </c:pt>
              <c:pt idx="5">
                <c:v>23</c:v>
              </c:pt>
              <c:pt idx="6">
                <c:v>27</c:v>
              </c:pt>
              <c:pt idx="7">
                <c:v>31</c:v>
              </c:pt>
            </c:numLit>
          </c:cat>
          <c:val>
            <c:numLit>
              <c:formatCode>0%</c:formatCode>
              <c:ptCount val="8"/>
              <c:pt idx="0">
                <c:v>0.978</c:v>
              </c:pt>
              <c:pt idx="1">
                <c:v>0.99996</c:v>
              </c:pt>
              <c:pt idx="2">
                <c:v>0.99998</c:v>
              </c:pt>
              <c:pt idx="3">
                <c:v>0.99994</c:v>
              </c:pt>
              <c:pt idx="4">
                <c:v>1</c:v>
              </c:pt>
              <c:pt idx="5">
                <c:v>1</c:v>
              </c:pt>
              <c:pt idx="6">
                <c:v>1</c:v>
              </c:pt>
              <c:pt idx="7">
                <c:v>1</c:v>
              </c:pt>
            </c:numLit>
          </c:val>
        </c:ser>
        <c:ser>
          <c:idx val="1"/>
          <c:order val="1"/>
          <c:tx>
            <c:v>acrostic</c:v>
          </c:tx>
          <c:spPr>
            <a:ln xmlns:a="http://schemas.openxmlformats.org/drawingml/2006/main" w="28575">
              <a:solidFill>
                <a:srgbClr val="D54B5B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D54B5B"/>
              </a:solidFill>
            </c:spPr>
          </c:marker>
          <c:cat>
            <c:numLit>
              <c:formatCode>General</c:formatCode>
              <c:ptCount val="8"/>
              <c:pt idx="0">
                <c:v>3</c:v>
              </c:pt>
              <c:pt idx="1">
                <c:v>7</c:v>
              </c:pt>
              <c:pt idx="2">
                <c:v>11</c:v>
              </c:pt>
              <c:pt idx="3">
                <c:v>15</c:v>
              </c:pt>
              <c:pt idx="4">
                <c:v>19</c:v>
              </c:pt>
              <c:pt idx="5">
                <c:v>23</c:v>
              </c:pt>
              <c:pt idx="6">
                <c:v>27</c:v>
              </c:pt>
              <c:pt idx="7">
                <c:v>31</c:v>
              </c:pt>
            </c:numLit>
          </c:cat>
          <c:val>
            <c:numLit>
              <c:formatCode>0%</c:formatCode>
              <c:ptCount val="8"/>
              <c:pt idx="0">
                <c:v>0.9912</c:v>
              </c:pt>
              <c:pt idx="1">
                <c:v>0.99998</c:v>
              </c:pt>
              <c:pt idx="2">
                <c:v>0.99996</c:v>
              </c:pt>
              <c:pt idx="3">
                <c:v>0.99994</c:v>
              </c:pt>
              <c:pt idx="4">
                <c:v>0.99999</c:v>
              </c:pt>
              <c:pt idx="5">
                <c:v>0.99999</c:v>
              </c:pt>
              <c:pt idx="6">
                <c:v>1</c:v>
              </c:pt>
              <c:pt idx="7">
                <c:v>1</c:v>
              </c:pt>
            </c:numLit>
          </c:val>
        </c:ser>
        <c:ser>
          <c:idx val="2"/>
          <c:order val="2"/>
          <c:tx>
            <c:v>translated</c:v>
          </c:tx>
          <c:spPr>
            <a:ln xmlns:a="http://schemas.openxmlformats.org/drawingml/2006/main" w="28575">
              <a:solidFill>
                <a:srgbClr val="F59E5B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F59E5B"/>
              </a:solidFill>
            </c:spPr>
          </c:marker>
          <c:cat>
            <c:numLit>
              <c:formatCode>General</c:formatCode>
              <c:ptCount val="8"/>
              <c:pt idx="0">
                <c:v>3</c:v>
              </c:pt>
              <c:pt idx="1">
                <c:v>7</c:v>
              </c:pt>
              <c:pt idx="2">
                <c:v>11</c:v>
              </c:pt>
              <c:pt idx="3">
                <c:v>15</c:v>
              </c:pt>
              <c:pt idx="4">
                <c:v>19</c:v>
              </c:pt>
              <c:pt idx="5">
                <c:v>23</c:v>
              </c:pt>
              <c:pt idx="6">
                <c:v>27</c:v>
              </c:pt>
              <c:pt idx="7">
                <c:v>31</c:v>
              </c:pt>
            </c:numLit>
          </c:cat>
          <c:val>
            <c:numLit>
              <c:formatCode>0%</c:formatCode>
              <c:ptCount val="8"/>
              <c:pt idx="0">
                <c:v>0.9846</c:v>
              </c:pt>
              <c:pt idx="1">
                <c:v>0.99951</c:v>
              </c:pt>
              <c:pt idx="2">
                <c:v>1</c:v>
              </c:pt>
              <c:pt idx="3">
                <c:v>1</c:v>
              </c:pt>
              <c:pt idx="4">
                <c:v>1</c:v>
              </c:pt>
              <c:pt idx="5">
                <c:v>1</c:v>
              </c:pt>
              <c:pt idx="6">
                <c:v>1</c:v>
              </c:pt>
              <c:pt idx="7">
                <c:v>1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125">
                    <a:solidFill>
                      <a:srgbClr val="5F6670"/>
                    </a:solidFill>
                  </a:rPr>
                  <a:t>Full-attention layer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5F6670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F667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.65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8EB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125">
                    <a:solidFill>
                      <a:srgbClr val="5F6670"/>
                    </a:solidFill>
                  </a:rPr>
                  <a:t>Mean drift probability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5F6670"/>
                  </a:solidFill>
                </a:defRPr>
              </a:pPr>
            </a:p>
          </c:txPr>
        </c:title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F6670"/>
                </a:solidFill>
              </a:defRPr>
            </a:pPr>
          </a:p>
        </c:txPr>
        <c:crossAx val="48650112"/>
        <c:crossBetween val="between"/>
        <c:majorUnit val="0.0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5F6670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-42-42">
            <a:extLst xmlns:a="http://schemas.openxmlformats.org/drawingml/2006/main">
              <a:ext uri="{FF2B5EF4-FFF2-40B4-BE49-F238E27FC236}">
                <a16:creationId xmlns:a16="http://schemas.microsoft.com/office/drawing/2014/main" id="{D30B27EA-043B-4F18-880F-1C672AAF2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RESEARCH PROTOTYPE • BRANCH b0d2874</a:t>
            </a:r>
          </a:p>
        </p:txBody>
      </p:sp>
      <p:sp>
        <p:nvSpPr>
          <p:cNvPr id="2" name="text-42-168">
            <a:extLst xmlns:a="http://schemas.openxmlformats.org/drawingml/2006/main">
              <a:ext uri="{FF2B5EF4-FFF2-40B4-BE49-F238E27FC236}">
                <a16:creationId xmlns:a16="http://schemas.microsoft.com/office/drawing/2014/main" id="{CC65F870-658A-4CD6-BF07-0379D6F61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9334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PromptGuard</a:t>
            </a:r>
          </a:p>
        </p:txBody>
      </p:sp>
      <p:sp>
        <p:nvSpPr>
          <p:cNvPr id="3" name="text-42-278">
            <a:extLst xmlns:a="http://schemas.openxmlformats.org/drawingml/2006/main">
              <a:ext uri="{FF2B5EF4-FFF2-40B4-BE49-F238E27FC236}">
                <a16:creationId xmlns:a16="http://schemas.microsoft.com/office/drawing/2014/main" id="{AAC3BEBB-2B00-4B84-949F-96E9BD741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4795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Detecting jailbreak drift inside Qwen</a:t>
            </a:r>
          </a:p>
        </p:txBody>
      </p:sp>
      <p:sp>
        <p:nvSpPr>
          <p:cNvPr id="4" name="text-42-452">
            <a:extLst xmlns:a="http://schemas.openxmlformats.org/drawingml/2006/main">
              <a:ext uri="{FF2B5EF4-FFF2-40B4-BE49-F238E27FC236}">
                <a16:creationId xmlns:a16="http://schemas.microsoft.com/office/drawing/2014/main" id="{B82FC88E-A45C-4C95-8EA8-A031CC83D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05300"/>
            <a:ext cx="7905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What this branch is building, how it works, what we have observed, and the path to a credible validation.</a:t>
            </a:r>
          </a:p>
        </p:txBody>
      </p:sp>
      <p:cxnSp>
        <p:nvCxnSpPr>
          <p:cNvPr id="19" name=""/>
          <p:cNvCxnSpPr/>
          <p:nvPr/>
        </p:nvCxnSpPr>
        <p:spPr>
          <a:xfrm xmlns:a="http://schemas.openxmlformats.org/drawingml/2006/main">
            <a:off x="400050" y="592455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A0A0A"/>
            </a:solidFill>
            <a:prstDash val="solid"/>
          </a:ln>
        </p:spPr>
      </p:cxnSp>
      <p:sp>
        <p:nvSpPr>
          <p:cNvPr id="6" name="box-918-474">
            <a:extLst xmlns:a="http://schemas.openxmlformats.org/drawingml/2006/main">
              <a:ext uri="{FF2B5EF4-FFF2-40B4-BE49-F238E27FC236}">
                <a16:creationId xmlns:a16="http://schemas.microsoft.com/office/drawing/2014/main" id="{0F695380-19FB-4C4B-8856-13BEC2B61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514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ox-956-457">
            <a:extLst xmlns:a="http://schemas.openxmlformats.org/drawingml/2006/main">
              <a:ext uri="{FF2B5EF4-FFF2-40B4-BE49-F238E27FC236}">
                <a16:creationId xmlns:a16="http://schemas.microsoft.com/office/drawing/2014/main" id="{07BCF955-64E4-4C9D-B161-527B9099E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35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ox-994-440">
            <a:extLst xmlns:a="http://schemas.openxmlformats.org/drawingml/2006/main">
              <a:ext uri="{FF2B5EF4-FFF2-40B4-BE49-F238E27FC236}">
                <a16:creationId xmlns:a16="http://schemas.microsoft.com/office/drawing/2014/main" id="{CCFB1B53-88C8-40DD-B04E-8A6192BCC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1910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ox-1032-423">
            <a:extLst xmlns:a="http://schemas.openxmlformats.org/drawingml/2006/main">
              <a:ext uri="{FF2B5EF4-FFF2-40B4-BE49-F238E27FC236}">
                <a16:creationId xmlns:a16="http://schemas.microsoft.com/office/drawing/2014/main" id="{5A0CA6D5-5140-417B-AE71-B2D358C11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0290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ox-1070-406">
            <a:extLst xmlns:a="http://schemas.openxmlformats.org/drawingml/2006/main">
              <a:ext uri="{FF2B5EF4-FFF2-40B4-BE49-F238E27FC236}">
                <a16:creationId xmlns:a16="http://schemas.microsoft.com/office/drawing/2014/main" id="{08572AB2-26BB-414A-9FC5-59C22252F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8671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ox-1108-389">
            <a:extLst xmlns:a="http://schemas.openxmlformats.org/drawingml/2006/main">
              <a:ext uri="{FF2B5EF4-FFF2-40B4-BE49-F238E27FC236}">
                <a16:creationId xmlns:a16="http://schemas.microsoft.com/office/drawing/2014/main" id="{8D30586F-24C5-444A-A1FC-3A85B2427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37052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ox-1146-372">
            <a:extLst xmlns:a="http://schemas.openxmlformats.org/drawingml/2006/main">
              <a:ext uri="{FF2B5EF4-FFF2-40B4-BE49-F238E27FC236}">
                <a16:creationId xmlns:a16="http://schemas.microsoft.com/office/drawing/2014/main" id="{9570BF01-26AF-4E4C-BF3C-9688B6DF4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3543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ox-1184-355">
            <a:extLst xmlns:a="http://schemas.openxmlformats.org/drawingml/2006/main">
              <a:ext uri="{FF2B5EF4-FFF2-40B4-BE49-F238E27FC236}">
                <a16:creationId xmlns:a16="http://schemas.microsoft.com/office/drawing/2014/main" id="{268AAF60-0122-4C15-B887-9B1A61217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3813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1034-644">
            <a:extLst xmlns:a="http://schemas.openxmlformats.org/drawingml/2006/main">
              <a:ext uri="{FF2B5EF4-FFF2-40B4-BE49-F238E27FC236}">
                <a16:creationId xmlns:a16="http://schemas.microsoft.com/office/drawing/2014/main" id="{D5CEB205-57E6-46DD-B5AA-88A370438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6134100"/>
            <a:ext cx="1943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17 Aug 2026</a:t>
            </a:r>
          </a:p>
        </p:txBody>
      </p:sp>
    </p:spTree>
    <p:extLst>
      <p:ext uri="{BB962C8B-B14F-4D97-AF65-F5344CB8AC3E}">
        <p14:creationId xmlns:p14="http://schemas.microsoft.com/office/powerpoint/2010/main" val="2114922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42-34">
            <a:extLst xmlns:a="http://schemas.openxmlformats.org/drawingml/2006/main">
              <a:ext uri="{FF2B5EF4-FFF2-40B4-BE49-F238E27FC236}">
                <a16:creationId xmlns:a16="http://schemas.microsoft.com/office/drawing/2014/main" id="{19EA604E-272F-4CD7-90BF-9EAADD8CC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BRANCH UPDATE</a:t>
            </a:r>
          </a:p>
        </p:txBody>
      </p:sp>
      <p:sp>
        <p:nvSpPr>
          <p:cNvPr id="2" name="text-42-72">
            <a:extLst xmlns:a="http://schemas.openxmlformats.org/drawingml/2006/main">
              <a:ext uri="{FF2B5EF4-FFF2-40B4-BE49-F238E27FC236}">
                <a16:creationId xmlns:a16="http://schemas.microsoft.com/office/drawing/2014/main" id="{274727D6-7D45-4444-8EB1-9DD5FD302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39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J-Space becomes an adaptive safety guard</a:t>
            </a:r>
          </a:p>
        </p:txBody>
      </p:sp>
      <p:cxnSp>
        <p:nvCxnSpPr>
          <p:cNvPr id="18" name=""/>
          <p:cNvCxnSpPr/>
          <p:nvPr/>
        </p:nvCxnSpPr>
        <p:spPr>
          <a:xfrm xmlns:a="http://schemas.openxmlformats.org/drawingml/2006/main">
            <a:off x="400050" y="150495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text-42-668">
            <a:extLst xmlns:a="http://schemas.openxmlformats.org/drawingml/2006/main">
              <a:ext uri="{FF2B5EF4-FFF2-40B4-BE49-F238E27FC236}">
                <a16:creationId xmlns:a16="http://schemas.microsoft.com/office/drawing/2014/main" id="{64AD09E1-778D-42C6-A299-3D5CEE036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feature/jacobian-drift-detector</a:t>
            </a:r>
          </a:p>
        </p:txBody>
      </p:sp>
      <p:sp>
        <p:nvSpPr>
          <p:cNvPr id="5" name="text-1180-668">
            <a:extLst xmlns:a="http://schemas.openxmlformats.org/drawingml/2006/main">
              <a:ext uri="{FF2B5EF4-FFF2-40B4-BE49-F238E27FC236}">
                <a16:creationId xmlns:a16="http://schemas.microsoft.com/office/drawing/2014/main" id="{BE264FF0-116A-43BB-B611-609B559B9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6" name="text-42-196">
            <a:extLst xmlns:a="http://schemas.openxmlformats.org/drawingml/2006/main">
              <a:ext uri="{FF2B5EF4-FFF2-40B4-BE49-F238E27FC236}">
                <a16:creationId xmlns:a16="http://schemas.microsoft.com/office/drawing/2014/main" id="{9540E456-FB98-4445-9FC5-17BA5D8C4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66900"/>
            <a:ext cx="504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Foundation already on the branch</a:t>
            </a:r>
          </a:p>
        </p:txBody>
      </p:sp>
      <p:sp>
        <p:nvSpPr>
          <p:cNvPr id="7" name="text-42-252">
            <a:extLst xmlns:a="http://schemas.openxmlformats.org/drawingml/2006/main">
              <a:ext uri="{FF2B5EF4-FFF2-40B4-BE49-F238E27FC236}">
                <a16:creationId xmlns:a16="http://schemas.microsoft.com/office/drawing/2014/main" id="{26AAB3EE-4565-4223-8B99-4A4F3E6B5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003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Jacobian lens + steering</a:t>
            </a:r>
          </a:p>
        </p:txBody>
      </p:sp>
      <p:sp>
        <p:nvSpPr>
          <p:cNvPr id="8" name="text-42-326">
            <a:extLst xmlns:a="http://schemas.openxmlformats.org/drawingml/2006/main">
              <a:ext uri="{FF2B5EF4-FFF2-40B4-BE49-F238E27FC236}">
                <a16:creationId xmlns:a16="http://schemas.microsoft.com/office/drawing/2014/main" id="{F51813A0-0066-4737-A793-3696B19FD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05150"/>
            <a:ext cx="4953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Read internal residual-stream state, transport it into a meaningful basis, and intervene on model behavior.</a:t>
            </a:r>
          </a:p>
        </p:txBody>
      </p:sp>
      <p:sp>
        <p:nvSpPr>
          <p:cNvPr id="9" name="text-670-196">
            <a:extLst xmlns:a="http://schemas.openxmlformats.org/drawingml/2006/main">
              <a:ext uri="{FF2B5EF4-FFF2-40B4-BE49-F238E27FC236}">
                <a16:creationId xmlns:a16="http://schemas.microsoft.com/office/drawing/2014/main" id="{0BDB68CE-C69F-44DB-B76A-D39FCEB35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669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What the tip commit adds</a:t>
            </a:r>
          </a:p>
        </p:txBody>
      </p:sp>
      <p:sp>
        <p:nvSpPr>
          <p:cNvPr id="10" name="text-670-252">
            <a:extLst xmlns:a="http://schemas.openxmlformats.org/drawingml/2006/main">
              <a:ext uri="{FF2B5EF4-FFF2-40B4-BE49-F238E27FC236}">
                <a16:creationId xmlns:a16="http://schemas.microsoft.com/office/drawing/2014/main" id="{6AA53002-C036-44FF-A339-E5A77C9F7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003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D54B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D54B5B"/>
                </a:solidFill>
                <a:latin typeface="Helvetica Neue"/>
                <a:ea typeface="Helvetica Neue"/>
                <a:cs typeface="Helvetica Neue"/>
              </a:rPr>
              <a:t>PromptGuard</a:t>
            </a:r>
          </a:p>
        </p:txBody>
      </p:sp>
      <p:sp>
        <p:nvSpPr>
          <p:cNvPr id="11" name="text-670-326">
            <a:extLst xmlns:a="http://schemas.openxmlformats.org/drawingml/2006/main">
              <a:ext uri="{FF2B5EF4-FFF2-40B4-BE49-F238E27FC236}">
                <a16:creationId xmlns:a16="http://schemas.microsoft.com/office/drawing/2014/main" id="{3803AD5F-E2FE-4743-9563-CA798954E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05150"/>
            <a:ext cx="49530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A layerwise drift detector, evolving attack loop, guarded interventions, benchmark harness, diagnostics, and plotting pipeline.</a:t>
            </a:r>
          </a:p>
        </p:txBody>
      </p:sp>
      <p:cxnSp>
        <p:nvCxnSpPr>
          <p:cNvPr id="27" name=""/>
          <p:cNvCxnSpPr/>
          <p:nvPr/>
        </p:nvCxnSpPr>
        <p:spPr>
          <a:xfrm xmlns:a="http://schemas.openxmlformats.org/drawingml/2006/main">
            <a:off x="5905500" y="1809750"/>
            <a:ext cx="95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3" name="box-42-528">
            <a:extLst xmlns:a="http://schemas.openxmlformats.org/drawingml/2006/main">
              <a:ext uri="{FF2B5EF4-FFF2-40B4-BE49-F238E27FC236}">
                <a16:creationId xmlns:a16="http://schemas.microsoft.com/office/drawing/2014/main" id="{F853AD4E-E8FF-4EFE-B6DC-1FCC9F0AD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29200"/>
            <a:ext cx="113919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70-548">
            <a:extLst xmlns:a="http://schemas.openxmlformats.org/drawingml/2006/main">
              <a:ext uri="{FF2B5EF4-FFF2-40B4-BE49-F238E27FC236}">
                <a16:creationId xmlns:a16="http://schemas.microsoft.com/office/drawing/2014/main" id="{31E14027-1939-421C-A0E1-790D18CA5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Branch footprint</a:t>
            </a:r>
          </a:p>
        </p:txBody>
      </p:sp>
      <p:sp>
        <p:nvSpPr>
          <p:cNvPr id="15" name="text-292-546">
            <a:extLst xmlns:a="http://schemas.openxmlformats.org/drawingml/2006/main">
              <a:ext uri="{FF2B5EF4-FFF2-40B4-BE49-F238E27FC236}">
                <a16:creationId xmlns:a16="http://schemas.microsoft.com/office/drawing/2014/main" id="{F49FD5AB-EDA9-4B36-AA15-E5D7AED38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200650"/>
            <a:ext cx="866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7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42 files in the tip commit  •  4,364 lines under promptguard/  •  8 full-attention checkpoints</a:t>
            </a:r>
          </a:p>
        </p:txBody>
      </p:sp>
    </p:spTree>
    <p:extLst>
      <p:ext uri="{BB962C8B-B14F-4D97-AF65-F5344CB8AC3E}">
        <p14:creationId xmlns:p14="http://schemas.microsoft.com/office/powerpoint/2010/main" val="17987819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text-42-34">
            <a:extLst xmlns:a="http://schemas.openxmlformats.org/drawingml/2006/main">
              <a:ext uri="{FF2B5EF4-FFF2-40B4-BE49-F238E27FC236}">
                <a16:creationId xmlns:a16="http://schemas.microsoft.com/office/drawing/2014/main" id="{8A255C2D-055B-4E5A-BAEF-4985F6FCA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HOW IT WORKS</a:t>
            </a:r>
          </a:p>
        </p:txBody>
      </p:sp>
      <p:sp>
        <p:nvSpPr>
          <p:cNvPr id="2" name="text-42-72">
            <a:extLst xmlns:a="http://schemas.openxmlformats.org/drawingml/2006/main">
              <a:ext uri="{FF2B5EF4-FFF2-40B4-BE49-F238E27FC236}">
                <a16:creationId xmlns:a16="http://schemas.microsoft.com/office/drawing/2014/main" id="{168E3DCC-A2C0-4645-9352-FBFCC8031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39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609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A prompt becomes a drift score before generation proceeds</a:t>
            </a:r>
          </a:p>
        </p:txBody>
      </p:sp>
      <p:cxnSp>
        <p:nvCxnSpPr>
          <p:cNvPr id="35" name=""/>
          <p:cNvCxnSpPr/>
          <p:nvPr/>
        </p:nvCxnSpPr>
        <p:spPr>
          <a:xfrm xmlns:a="http://schemas.openxmlformats.org/drawingml/2006/main">
            <a:off x="400050" y="150495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text-42-668">
            <a:extLst xmlns:a="http://schemas.openxmlformats.org/drawingml/2006/main">
              <a:ext uri="{FF2B5EF4-FFF2-40B4-BE49-F238E27FC236}">
                <a16:creationId xmlns:a16="http://schemas.microsoft.com/office/drawing/2014/main" id="{2C10D844-764C-430C-8C37-306763B47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feature/jacobian-drift-detector</a:t>
            </a:r>
          </a:p>
        </p:txBody>
      </p:sp>
      <p:sp>
        <p:nvSpPr>
          <p:cNvPr id="5" name="text-1180-668">
            <a:extLst xmlns:a="http://schemas.openxmlformats.org/drawingml/2006/main">
              <a:ext uri="{FF2B5EF4-FFF2-40B4-BE49-F238E27FC236}">
                <a16:creationId xmlns:a16="http://schemas.microsoft.com/office/drawing/2014/main" id="{80633CEF-B0B7-4254-AA98-ED373D00A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cxnSp>
        <p:nvCxnSpPr>
          <p:cNvPr id="38" name=""/>
          <p:cNvCxnSpPr/>
          <p:nvPr/>
        </p:nvCxnSpPr>
        <p:spPr>
          <a:xfrm xmlns:a="http://schemas.openxmlformats.org/drawingml/2006/main">
            <a:off x="2209800" y="3105150"/>
            <a:ext cx="495300" cy="9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39" name=""/>
          <p:cNvCxnSpPr/>
          <p:nvPr/>
        </p:nvCxnSpPr>
        <p:spPr>
          <a:xfrm xmlns:a="http://schemas.openxmlformats.org/drawingml/2006/main">
            <a:off x="4514850" y="3105150"/>
            <a:ext cx="495300" cy="9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40" name=""/>
          <p:cNvCxnSpPr/>
          <p:nvPr/>
        </p:nvCxnSpPr>
        <p:spPr>
          <a:xfrm xmlns:a="http://schemas.openxmlformats.org/drawingml/2006/main">
            <a:off x="6819900" y="3105150"/>
            <a:ext cx="495300" cy="9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41" name=""/>
          <p:cNvCxnSpPr/>
          <p:nvPr/>
        </p:nvCxnSpPr>
        <p:spPr>
          <a:xfrm xmlns:a="http://schemas.openxmlformats.org/drawingml/2006/main">
            <a:off x="9124950" y="3105150"/>
            <a:ext cx="495300" cy="9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sp>
        <p:nvSpPr>
          <p:cNvPr id="10" name="box-42-236">
            <a:extLst xmlns:a="http://schemas.openxmlformats.org/drawingml/2006/main">
              <a:ext uri="{FF2B5EF4-FFF2-40B4-BE49-F238E27FC236}">
                <a16:creationId xmlns:a16="http://schemas.microsoft.com/office/drawing/2014/main" id="{D8FBB792-3577-427B-9D9F-11BDB5FFA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47900"/>
            <a:ext cx="1885950" cy="194310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62-254">
            <a:extLst xmlns:a="http://schemas.openxmlformats.org/drawingml/2006/main">
              <a:ext uri="{FF2B5EF4-FFF2-40B4-BE49-F238E27FC236}">
                <a16:creationId xmlns:a16="http://schemas.microsoft.com/office/drawing/2014/main" id="{BBE147D7-4545-478E-AF52-7CAD31025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193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2" name="text-62-296">
            <a:extLst xmlns:a="http://schemas.openxmlformats.org/drawingml/2006/main">
              <a:ext uri="{FF2B5EF4-FFF2-40B4-BE49-F238E27FC236}">
                <a16:creationId xmlns:a16="http://schemas.microsoft.com/office/drawing/2014/main" id="{589F81FC-B795-49DA-AE70-C276B2640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19400"/>
            <a:ext cx="1504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978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Pair prompts</a:t>
            </a:r>
          </a:p>
        </p:txBody>
      </p:sp>
      <p:sp>
        <p:nvSpPr>
          <p:cNvPr id="13" name="text-62-364">
            <a:extLst xmlns:a="http://schemas.openxmlformats.org/drawingml/2006/main">
              <a:ext uri="{FF2B5EF4-FFF2-40B4-BE49-F238E27FC236}">
                <a16:creationId xmlns:a16="http://schemas.microsoft.com/office/drawing/2014/main" id="{093B5AC6-58A3-47D4-ADEB-5A0144F90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67100"/>
            <a:ext cx="1504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131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Clean prefix vs. prefix + candidate injection</a:t>
            </a:r>
          </a:p>
        </p:txBody>
      </p:sp>
      <p:sp>
        <p:nvSpPr>
          <p:cNvPr id="14" name="box-284-236">
            <a:extLst xmlns:a="http://schemas.openxmlformats.org/drawingml/2006/main">
              <a:ext uri="{FF2B5EF4-FFF2-40B4-BE49-F238E27FC236}">
                <a16:creationId xmlns:a16="http://schemas.microsoft.com/office/drawing/2014/main" id="{258162E1-7C58-4499-A42B-590E2F028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247900"/>
            <a:ext cx="1885950" cy="194310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304-254">
            <a:extLst xmlns:a="http://schemas.openxmlformats.org/drawingml/2006/main">
              <a:ext uri="{FF2B5EF4-FFF2-40B4-BE49-F238E27FC236}">
                <a16:creationId xmlns:a16="http://schemas.microsoft.com/office/drawing/2014/main" id="{642E8A09-FE22-4542-95F5-8CCA62A79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4193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6" name="text-304-296">
            <a:extLst xmlns:a="http://schemas.openxmlformats.org/drawingml/2006/main">
              <a:ext uri="{FF2B5EF4-FFF2-40B4-BE49-F238E27FC236}">
                <a16:creationId xmlns:a16="http://schemas.microsoft.com/office/drawing/2014/main" id="{93EE6384-D98D-458A-B5BF-42784062E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819400"/>
            <a:ext cx="1504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Capture</a:t>
            </a:r>
          </a:p>
        </p:txBody>
      </p:sp>
      <p:sp>
        <p:nvSpPr>
          <p:cNvPr id="17" name="text-304-364">
            <a:extLst xmlns:a="http://schemas.openxmlformats.org/drawingml/2006/main">
              <a:ext uri="{FF2B5EF4-FFF2-40B4-BE49-F238E27FC236}">
                <a16:creationId xmlns:a16="http://schemas.microsoft.com/office/drawing/2014/main" id="{AD86134D-722E-4375-9A74-4EC33B773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467100"/>
            <a:ext cx="1504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81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Read residuals at 8 full-attention layers</a:t>
            </a:r>
          </a:p>
        </p:txBody>
      </p:sp>
      <p:sp>
        <p:nvSpPr>
          <p:cNvPr id="18" name="box-526-236">
            <a:extLst xmlns:a="http://schemas.openxmlformats.org/drawingml/2006/main">
              <a:ext uri="{FF2B5EF4-FFF2-40B4-BE49-F238E27FC236}">
                <a16:creationId xmlns:a16="http://schemas.microsoft.com/office/drawing/2014/main" id="{EECA90A2-6CF3-48A2-9E2E-CB882B23E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247900"/>
            <a:ext cx="1885950" cy="194310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546-254">
            <a:extLst xmlns:a="http://schemas.openxmlformats.org/drawingml/2006/main">
              <a:ext uri="{FF2B5EF4-FFF2-40B4-BE49-F238E27FC236}">
                <a16:creationId xmlns:a16="http://schemas.microsoft.com/office/drawing/2014/main" id="{4D2F0567-4811-4CED-8B38-BD7AEC9FD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193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0" name="text-546-296">
            <a:extLst xmlns:a="http://schemas.openxmlformats.org/drawingml/2006/main">
              <a:ext uri="{FF2B5EF4-FFF2-40B4-BE49-F238E27FC236}">
                <a16:creationId xmlns:a16="http://schemas.microsoft.com/office/drawing/2014/main" id="{24ADC63D-2C6A-49FF-BEAF-B63549BF9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819400"/>
            <a:ext cx="1504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Compute Δ</a:t>
            </a:r>
          </a:p>
        </p:txBody>
      </p:sp>
      <p:sp>
        <p:nvSpPr>
          <p:cNvPr id="21" name="text-546-364">
            <a:extLst xmlns:a="http://schemas.openxmlformats.org/drawingml/2006/main">
              <a:ext uri="{FF2B5EF4-FFF2-40B4-BE49-F238E27FC236}">
                <a16:creationId xmlns:a16="http://schemas.microsoft.com/office/drawing/2014/main" id="{01792C07-E984-4B5B-B8D6-C65158E10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467100"/>
            <a:ext cx="1504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4691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Pool each layer and subtract before from after</a:t>
            </a:r>
          </a:p>
        </p:txBody>
      </p:sp>
      <p:sp>
        <p:nvSpPr>
          <p:cNvPr id="22" name="box-768-236">
            <a:extLst xmlns:a="http://schemas.openxmlformats.org/drawingml/2006/main">
              <a:ext uri="{FF2B5EF4-FFF2-40B4-BE49-F238E27FC236}">
                <a16:creationId xmlns:a16="http://schemas.microsoft.com/office/drawing/2014/main" id="{700065C9-CFF3-46D3-B2AF-3F13753DF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247900"/>
            <a:ext cx="1885950" cy="194310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-788-254">
            <a:extLst xmlns:a="http://schemas.openxmlformats.org/drawingml/2006/main">
              <a:ext uri="{FF2B5EF4-FFF2-40B4-BE49-F238E27FC236}">
                <a16:creationId xmlns:a16="http://schemas.microsoft.com/office/drawing/2014/main" id="{727B9CA4-8E54-4EA9-A983-D515100EA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4193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4" name="text-788-296">
            <a:extLst xmlns:a="http://schemas.openxmlformats.org/drawingml/2006/main">
              <a:ext uri="{FF2B5EF4-FFF2-40B4-BE49-F238E27FC236}">
                <a16:creationId xmlns:a16="http://schemas.microsoft.com/office/drawing/2014/main" id="{E69E1F3A-D0D0-4D4E-B858-4E525C8A6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819400"/>
            <a:ext cx="1504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Score</a:t>
            </a:r>
          </a:p>
        </p:txBody>
      </p:sp>
      <p:sp>
        <p:nvSpPr>
          <p:cNvPr id="25" name="text-788-364">
            <a:extLst xmlns:a="http://schemas.openxmlformats.org/drawingml/2006/main">
              <a:ext uri="{FF2B5EF4-FFF2-40B4-BE49-F238E27FC236}">
                <a16:creationId xmlns:a16="http://schemas.microsoft.com/office/drawing/2014/main" id="{98D5B764-9EAC-40D0-8D3A-EF82713BB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467100"/>
            <a:ext cx="1504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236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One linear probe per layer; aggregate logits</a:t>
            </a:r>
          </a:p>
        </p:txBody>
      </p:sp>
      <p:sp>
        <p:nvSpPr>
          <p:cNvPr id="26" name="box-1010-236">
            <a:extLst xmlns:a="http://schemas.openxmlformats.org/drawingml/2006/main">
              <a:ext uri="{FF2B5EF4-FFF2-40B4-BE49-F238E27FC236}">
                <a16:creationId xmlns:a16="http://schemas.microsoft.com/office/drawing/2014/main" id="{02331825-9EA4-49CC-BB7D-6C8AFC66B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247900"/>
            <a:ext cx="1885950" cy="194310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27" name="text-1030-254">
            <a:extLst xmlns:a="http://schemas.openxmlformats.org/drawingml/2006/main">
              <a:ext uri="{FF2B5EF4-FFF2-40B4-BE49-F238E27FC236}">
                <a16:creationId xmlns:a16="http://schemas.microsoft.com/office/drawing/2014/main" id="{42873B0B-2F03-40AF-BE1C-14721C7D6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4193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8" name="text-1030-296">
            <a:extLst xmlns:a="http://schemas.openxmlformats.org/drawingml/2006/main">
              <a:ext uri="{FF2B5EF4-FFF2-40B4-BE49-F238E27FC236}">
                <a16:creationId xmlns:a16="http://schemas.microsoft.com/office/drawing/2014/main" id="{68C124DB-325D-418C-ABB6-AD2B63B4A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19400"/>
            <a:ext cx="1504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Act</a:t>
            </a:r>
          </a:p>
        </p:txBody>
      </p:sp>
      <p:sp>
        <p:nvSpPr>
          <p:cNvPr id="29" name="text-1030-364">
            <a:extLst xmlns:a="http://schemas.openxmlformats.org/drawingml/2006/main">
              <a:ext uri="{FF2B5EF4-FFF2-40B4-BE49-F238E27FC236}">
                <a16:creationId xmlns:a16="http://schemas.microsoft.com/office/drawing/2014/main" id="{E6354F83-A532-4940-B638-08167B20F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467100"/>
            <a:ext cx="1504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4886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Pass, refuse, or project out the drift direction</a:t>
            </a:r>
          </a:p>
        </p:txBody>
      </p:sp>
      <p:sp>
        <p:nvSpPr>
          <p:cNvPr id="30" name="box-42-490">
            <a:extLst xmlns:a="http://schemas.openxmlformats.org/drawingml/2006/main">
              <a:ext uri="{FF2B5EF4-FFF2-40B4-BE49-F238E27FC236}">
                <a16:creationId xmlns:a16="http://schemas.microsoft.com/office/drawing/2014/main" id="{84E02809-E392-44B8-B691-0BE0315B9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67250"/>
            <a:ext cx="11391900" cy="1085850"/>
          </a:xfrm>
          <a:prstGeom xmlns:a="http://schemas.openxmlformats.org/drawingml/2006/main" prst="roundRect">
            <a:avLst>
              <a:gd name="adj" fmla="val 7018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text-66-514">
            <a:extLst xmlns:a="http://schemas.openxmlformats.org/drawingml/2006/main">
              <a:ext uri="{FF2B5EF4-FFF2-40B4-BE49-F238E27FC236}">
                <a16:creationId xmlns:a16="http://schemas.microsoft.com/office/drawing/2014/main" id="{54985C38-5B5F-44D2-945D-E99C39204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958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Safety constraint</a:t>
            </a:r>
          </a:p>
        </p:txBody>
      </p:sp>
      <p:sp>
        <p:nvSpPr>
          <p:cNvPr id="32" name="text-298-510">
            <a:extLst xmlns:a="http://schemas.openxmlformats.org/drawingml/2006/main">
              <a:ext uri="{FF2B5EF4-FFF2-40B4-BE49-F238E27FC236}">
                <a16:creationId xmlns:a16="http://schemas.microsoft.com/office/drawing/2014/main" id="{D64E37E6-1453-40D6-AF19-7160F63F4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8577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681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Qwen Gated DeltaNet blocks may be observed, but write hooks are rejected. Intervention is limited to discovered full-attention blocks.</a:t>
            </a:r>
          </a:p>
        </p:txBody>
      </p:sp>
    </p:spTree>
    <p:extLst>
      <p:ext uri="{BB962C8B-B14F-4D97-AF65-F5344CB8AC3E}">
        <p14:creationId xmlns:p14="http://schemas.microsoft.com/office/powerpoint/2010/main" val="20939157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ext-42-34">
            <a:extLst xmlns:a="http://schemas.openxmlformats.org/drawingml/2006/main">
              <a:ext uri="{FF2B5EF4-FFF2-40B4-BE49-F238E27FC236}">
                <a16:creationId xmlns:a16="http://schemas.microsoft.com/office/drawing/2014/main" id="{3896F60B-CE8E-452C-ADDA-0699630A8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ADAPTATION LOOP</a:t>
            </a:r>
          </a:p>
        </p:txBody>
      </p:sp>
      <p:sp>
        <p:nvSpPr>
          <p:cNvPr id="2" name="text-42-72">
            <a:extLst xmlns:a="http://schemas.openxmlformats.org/drawingml/2006/main">
              <a:ext uri="{FF2B5EF4-FFF2-40B4-BE49-F238E27FC236}">
                <a16:creationId xmlns:a16="http://schemas.microsoft.com/office/drawing/2014/main" id="{65257B1D-F58F-4B93-BEC3-43D0FE211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39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36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The guard improves by training against the attacks that evade it</a:t>
            </a:r>
          </a:p>
        </p:txBody>
      </p:sp>
      <p:cxnSp>
        <p:nvCxnSpPr>
          <p:cNvPr id="26" name=""/>
          <p:cNvCxnSpPr/>
          <p:nvPr/>
        </p:nvCxnSpPr>
        <p:spPr>
          <a:xfrm xmlns:a="http://schemas.openxmlformats.org/drawingml/2006/main">
            <a:off x="400050" y="150495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text-42-668">
            <a:extLst xmlns:a="http://schemas.openxmlformats.org/drawingml/2006/main">
              <a:ext uri="{FF2B5EF4-FFF2-40B4-BE49-F238E27FC236}">
                <a16:creationId xmlns:a16="http://schemas.microsoft.com/office/drawing/2014/main" id="{C00EE1C1-8059-490F-9A4F-B6C312B52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feature/jacobian-drift-detector</a:t>
            </a:r>
          </a:p>
        </p:txBody>
      </p:sp>
      <p:sp>
        <p:nvSpPr>
          <p:cNvPr id="5" name="text-1180-668">
            <a:extLst xmlns:a="http://schemas.openxmlformats.org/drawingml/2006/main">
              <a:ext uri="{FF2B5EF4-FFF2-40B4-BE49-F238E27FC236}">
                <a16:creationId xmlns:a16="http://schemas.microsoft.com/office/drawing/2014/main" id="{B09713CE-AE1A-4C70-9D7F-80DC5A7B0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cxnSp>
        <p:nvCxnSpPr>
          <p:cNvPr id="29" name=""/>
          <p:cNvCxnSpPr/>
          <p:nvPr/>
        </p:nvCxnSpPr>
        <p:spPr>
          <a:xfrm xmlns:a="http://schemas.openxmlformats.org/drawingml/2006/main">
            <a:off x="685800" y="3162300"/>
            <a:ext cx="108204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A0A0A"/>
            </a:solidFill>
            <a:prstDash val="solid"/>
          </a:ln>
        </p:spPr>
      </p:cxnSp>
      <p:sp>
        <p:nvSpPr>
          <p:cNvPr id="7" name="box-72-321">
            <a:extLst xmlns:a="http://schemas.openxmlformats.org/drawingml/2006/main">
              <a:ext uri="{FF2B5EF4-FFF2-40B4-BE49-F238E27FC236}">
                <a16:creationId xmlns:a16="http://schemas.microsoft.com/office/drawing/2014/main" id="{BD8DC7F2-AAF2-4561-A0CB-A17EA4B70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575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72-242">
            <a:extLst xmlns:a="http://schemas.openxmlformats.org/drawingml/2006/main">
              <a:ext uri="{FF2B5EF4-FFF2-40B4-BE49-F238E27FC236}">
                <a16:creationId xmlns:a16="http://schemas.microsoft.com/office/drawing/2014/main" id="{7E21C0F3-4B25-4D12-8893-E8B65C466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9" name="text-72-372">
            <a:extLst xmlns:a="http://schemas.openxmlformats.org/drawingml/2006/main">
              <a:ext uri="{FF2B5EF4-FFF2-40B4-BE49-F238E27FC236}">
                <a16:creationId xmlns:a16="http://schemas.microsoft.com/office/drawing/2014/main" id="{39B85AC5-A6A3-44EA-9C63-DE2382E85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Mutate</a:t>
            </a:r>
          </a:p>
        </p:txBody>
      </p:sp>
      <p:sp>
        <p:nvSpPr>
          <p:cNvPr id="10" name="text-72-426">
            <a:extLst xmlns:a="http://schemas.openxmlformats.org/drawingml/2006/main">
              <a:ext uri="{FF2B5EF4-FFF2-40B4-BE49-F238E27FC236}">
                <a16:creationId xmlns:a16="http://schemas.microsoft.com/office/drawing/2014/main" id="{D5097694-FC75-4974-87AB-757802213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23431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Sample roleplay, encoding, fragmentation, context and learned templates.</a:t>
            </a:r>
          </a:p>
        </p:txBody>
      </p:sp>
      <p:sp>
        <p:nvSpPr>
          <p:cNvPr id="11" name="box-356-321">
            <a:extLst xmlns:a="http://schemas.openxmlformats.org/drawingml/2006/main">
              <a:ext uri="{FF2B5EF4-FFF2-40B4-BE49-F238E27FC236}">
                <a16:creationId xmlns:a16="http://schemas.microsoft.com/office/drawing/2014/main" id="{E21DB58A-61B3-483B-8DEE-1F950A4BD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0575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356-242">
            <a:extLst xmlns:a="http://schemas.openxmlformats.org/drawingml/2006/main">
              <a:ext uri="{FF2B5EF4-FFF2-40B4-BE49-F238E27FC236}">
                <a16:creationId xmlns:a16="http://schemas.microsoft.com/office/drawing/2014/main" id="{8FD4360B-4658-4C3A-A498-D05A951EB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30505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3" name="text-356-372">
            <a:extLst xmlns:a="http://schemas.openxmlformats.org/drawingml/2006/main">
              <a:ext uri="{FF2B5EF4-FFF2-40B4-BE49-F238E27FC236}">
                <a16:creationId xmlns:a16="http://schemas.microsoft.com/office/drawing/2014/main" id="{91A1E99A-D1DE-4C47-9EF5-5A9627D1E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5433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Attack</a:t>
            </a:r>
          </a:p>
        </p:txBody>
      </p:sp>
      <p:sp>
        <p:nvSpPr>
          <p:cNvPr id="14" name="text-356-426">
            <a:extLst xmlns:a="http://schemas.openxmlformats.org/drawingml/2006/main">
              <a:ext uri="{FF2B5EF4-FFF2-40B4-BE49-F238E27FC236}">
                <a16:creationId xmlns:a16="http://schemas.microsoft.com/office/drawing/2014/main" id="{E6B3B168-222A-4EE3-98E5-27BA26A13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057650"/>
            <a:ext cx="23431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Score transformed prompts against the frozen validation probe.</a:t>
            </a:r>
          </a:p>
        </p:txBody>
      </p:sp>
      <p:sp>
        <p:nvSpPr>
          <p:cNvPr id="15" name="box-640-321">
            <a:extLst xmlns:a="http://schemas.openxmlformats.org/drawingml/2006/main">
              <a:ext uri="{FF2B5EF4-FFF2-40B4-BE49-F238E27FC236}">
                <a16:creationId xmlns:a16="http://schemas.microsoft.com/office/drawing/2014/main" id="{054FD8D7-D3BC-492C-BEA6-207759321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575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4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640-242">
            <a:extLst xmlns:a="http://schemas.openxmlformats.org/drawingml/2006/main">
              <a:ext uri="{FF2B5EF4-FFF2-40B4-BE49-F238E27FC236}">
                <a16:creationId xmlns:a16="http://schemas.microsoft.com/office/drawing/2014/main" id="{C70C5B98-BEE6-4447-8634-39F7D6791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0505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7" name="text-640-372">
            <a:extLst xmlns:a="http://schemas.openxmlformats.org/drawingml/2006/main">
              <a:ext uri="{FF2B5EF4-FFF2-40B4-BE49-F238E27FC236}">
                <a16:creationId xmlns:a16="http://schemas.microsoft.com/office/drawing/2014/main" id="{283E4077-5F76-4466-B218-6259419BF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433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Gate + learn</a:t>
            </a:r>
          </a:p>
        </p:txBody>
      </p:sp>
      <p:sp>
        <p:nvSpPr>
          <p:cNvPr id="18" name="text-640-426">
            <a:extLst xmlns:a="http://schemas.openxmlformats.org/drawingml/2006/main">
              <a:ext uri="{FF2B5EF4-FFF2-40B4-BE49-F238E27FC236}">
                <a16:creationId xmlns:a16="http://schemas.microsoft.com/office/drawing/2014/main" id="{2E2854F7-8D07-461F-BC81-A2AC93D7B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57650"/>
            <a:ext cx="23431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Train only trusted or high-confidence examples; queue uncertainty for review.</a:t>
            </a:r>
          </a:p>
        </p:txBody>
      </p:sp>
      <p:sp>
        <p:nvSpPr>
          <p:cNvPr id="19" name="box-924-321">
            <a:extLst xmlns:a="http://schemas.openxmlformats.org/drawingml/2006/main">
              <a:ext uri="{FF2B5EF4-FFF2-40B4-BE49-F238E27FC236}">
                <a16:creationId xmlns:a16="http://schemas.microsoft.com/office/drawing/2014/main" id="{E2463143-C802-4DE0-99A6-C31C402E5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575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924-242">
            <a:extLst xmlns:a="http://schemas.openxmlformats.org/drawingml/2006/main">
              <a:ext uri="{FF2B5EF4-FFF2-40B4-BE49-F238E27FC236}">
                <a16:creationId xmlns:a16="http://schemas.microsoft.com/office/drawing/2014/main" id="{2377BCF6-6222-4C66-A967-6E8F0A3FA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0505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1" name="text-924-372">
            <a:extLst xmlns:a="http://schemas.openxmlformats.org/drawingml/2006/main">
              <a:ext uri="{FF2B5EF4-FFF2-40B4-BE49-F238E27FC236}">
                <a16:creationId xmlns:a16="http://schemas.microsoft.com/office/drawing/2014/main" id="{CA789104-A0AB-4DC6-9AC5-B7C9FBE51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5433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Cross-play</a:t>
            </a:r>
          </a:p>
        </p:txBody>
      </p:sp>
      <p:sp>
        <p:nvSpPr>
          <p:cNvPr id="22" name="text-924-426">
            <a:extLst xmlns:a="http://schemas.openxmlformats.org/drawingml/2006/main">
              <a:ext uri="{FF2B5EF4-FFF2-40B4-BE49-F238E27FC236}">
                <a16:creationId xmlns:a16="http://schemas.microsoft.com/office/drawing/2014/main" id="{633DFEC5-4D58-44B3-BAC6-003482B78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057650"/>
            <a:ext cx="23431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Evaluate Attack-K × Guard-J plus families never used for training.</a:t>
            </a:r>
          </a:p>
        </p:txBody>
      </p:sp>
      <p:sp>
        <p:nvSpPr>
          <p:cNvPr id="23" name="text-72-568">
            <a:extLst xmlns:a="http://schemas.openxmlformats.org/drawingml/2006/main">
              <a:ext uri="{FF2B5EF4-FFF2-40B4-BE49-F238E27FC236}">
                <a16:creationId xmlns:a16="http://schemas.microsoft.com/office/drawing/2014/main" id="{4EFA0A94-1D7C-4688-BF31-B8E464092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Olares proposes text templates—not executable code—and every call has a local fallback.</a:t>
            </a:r>
          </a:p>
        </p:txBody>
      </p:sp>
    </p:spTree>
    <p:extLst>
      <p:ext uri="{BB962C8B-B14F-4D97-AF65-F5344CB8AC3E}">
        <p14:creationId xmlns:p14="http://schemas.microsoft.com/office/powerpoint/2010/main" val="4269386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ext-42-34">
            <a:extLst xmlns:a="http://schemas.openxmlformats.org/drawingml/2006/main">
              <a:ext uri="{FF2B5EF4-FFF2-40B4-BE49-F238E27FC236}">
                <a16:creationId xmlns:a16="http://schemas.microsoft.com/office/drawing/2014/main" id="{67C48D91-F541-4260-9D79-535C657A5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RUNTIME POLICY</a:t>
            </a:r>
          </a:p>
        </p:txBody>
      </p:sp>
      <p:sp>
        <p:nvSpPr>
          <p:cNvPr id="2" name="text-42-72">
            <a:extLst xmlns:a="http://schemas.openxmlformats.org/drawingml/2006/main">
              <a:ext uri="{FF2B5EF4-FFF2-40B4-BE49-F238E27FC236}">
                <a16:creationId xmlns:a16="http://schemas.microsoft.com/office/drawing/2014/main" id="{0AE0E6D0-9360-4749-980D-C13D14CFB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39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88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One score drives three deliberately simple outcomes</a:t>
            </a:r>
          </a:p>
        </p:txBody>
      </p:sp>
      <p:cxnSp>
        <p:nvCxnSpPr>
          <p:cNvPr id="26" name=""/>
          <p:cNvCxnSpPr/>
          <p:nvPr/>
        </p:nvCxnSpPr>
        <p:spPr>
          <a:xfrm xmlns:a="http://schemas.openxmlformats.org/drawingml/2006/main">
            <a:off x="400050" y="150495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text-42-668">
            <a:extLst xmlns:a="http://schemas.openxmlformats.org/drawingml/2006/main">
              <a:ext uri="{FF2B5EF4-FFF2-40B4-BE49-F238E27FC236}">
                <a16:creationId xmlns:a16="http://schemas.microsoft.com/office/drawing/2014/main" id="{5B3F722E-67B2-43D0-A07E-C0F497A36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feature/jacobian-drift-detector</a:t>
            </a:r>
          </a:p>
        </p:txBody>
      </p:sp>
      <p:sp>
        <p:nvSpPr>
          <p:cNvPr id="5" name="text-1180-668">
            <a:extLst xmlns:a="http://schemas.openxmlformats.org/drawingml/2006/main">
              <a:ext uri="{FF2B5EF4-FFF2-40B4-BE49-F238E27FC236}">
                <a16:creationId xmlns:a16="http://schemas.microsoft.com/office/drawing/2014/main" id="{5DC3B755-6092-40DD-8797-1A75159AD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6" name="text-42-214">
            <a:extLst xmlns:a="http://schemas.openxmlformats.org/drawingml/2006/main">
              <a:ext uri="{FF2B5EF4-FFF2-40B4-BE49-F238E27FC236}">
                <a16:creationId xmlns:a16="http://schemas.microsoft.com/office/drawing/2014/main" id="{1F1CE39A-4B1A-4078-81B3-8B3B72C6A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383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drift score</a:t>
            </a:r>
          </a:p>
        </p:txBody>
      </p:sp>
      <p:cxnSp>
        <p:nvCxnSpPr>
          <p:cNvPr id="30" name=""/>
          <p:cNvCxnSpPr/>
          <p:nvPr/>
        </p:nvCxnSpPr>
        <p:spPr>
          <a:xfrm xmlns:a="http://schemas.openxmlformats.org/drawingml/2006/main">
            <a:off x="400050" y="2800350"/>
            <a:ext cx="53340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0">
            <a:solidFill>
              <a:srgbClr val="B8BCC4"/>
            </a:solidFill>
            <a:prstDash val="solid"/>
          </a:ln>
        </p:spPr>
      </p:cxnSp>
      <p:cxnSp>
        <p:nvCxnSpPr>
          <p:cNvPr id="31" name=""/>
          <p:cNvCxnSpPr/>
          <p:nvPr/>
        </p:nvCxnSpPr>
        <p:spPr>
          <a:xfrm xmlns:a="http://schemas.openxmlformats.org/drawingml/2006/main">
            <a:off x="3067050" y="2800350"/>
            <a:ext cx="26670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0">
            <a:solidFill>
              <a:srgbClr val="D54B5B"/>
            </a:solidFill>
            <a:prstDash val="solid"/>
          </a:ln>
        </p:spPr>
      </p:cxnSp>
      <p:sp>
        <p:nvSpPr>
          <p:cNvPr id="9" name="box-316-278">
            <a:extLst xmlns:a="http://schemas.openxmlformats.org/drawingml/2006/main">
              <a:ext uri="{FF2B5EF4-FFF2-40B4-BE49-F238E27FC236}">
                <a16:creationId xmlns:a16="http://schemas.microsoft.com/office/drawing/2014/main" id="{0FD0D9C9-A309-4C5A-8505-E6746ADDD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647950"/>
            <a:ext cx="114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42-316">
            <a:extLst xmlns:a="http://schemas.openxmlformats.org/drawingml/2006/main">
              <a:ext uri="{FF2B5EF4-FFF2-40B4-BE49-F238E27FC236}">
                <a16:creationId xmlns:a16="http://schemas.microsoft.com/office/drawing/2014/main" id="{C8FAB5B6-33AB-4249-8DC2-CA8BCFA41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09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0.00</a:t>
            </a:r>
          </a:p>
        </p:txBody>
      </p:sp>
      <p:sp>
        <p:nvSpPr>
          <p:cNvPr id="11" name="text-272-316">
            <a:extLst xmlns:a="http://schemas.openxmlformats.org/drawingml/2006/main">
              <a:ext uri="{FF2B5EF4-FFF2-40B4-BE49-F238E27FC236}">
                <a16:creationId xmlns:a16="http://schemas.microsoft.com/office/drawing/2014/main" id="{DFC98DE6-690F-47EA-B7ED-A29D56235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0099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threshold 0.50</a:t>
            </a:r>
          </a:p>
        </p:txBody>
      </p:sp>
      <p:sp>
        <p:nvSpPr>
          <p:cNvPr id="12" name="text-542-316">
            <a:extLst xmlns:a="http://schemas.openxmlformats.org/drawingml/2006/main">
              <a:ext uri="{FF2B5EF4-FFF2-40B4-BE49-F238E27FC236}">
                <a16:creationId xmlns:a16="http://schemas.microsoft.com/office/drawing/2014/main" id="{825F5547-EB94-4EAF-9FEF-32B9DC981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0099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1.00</a:t>
            </a:r>
          </a:p>
        </p:txBody>
      </p:sp>
      <p:sp>
        <p:nvSpPr>
          <p:cNvPr id="13" name="box-670-194">
            <a:extLst xmlns:a="http://schemas.openxmlformats.org/drawingml/2006/main">
              <a:ext uri="{FF2B5EF4-FFF2-40B4-BE49-F238E27FC236}">
                <a16:creationId xmlns:a16="http://schemas.microsoft.com/office/drawing/2014/main" id="{A73953E9-BB39-4F90-B54B-8F23A1FF4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47850"/>
            <a:ext cx="236220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696-216">
            <a:extLst xmlns:a="http://schemas.openxmlformats.org/drawingml/2006/main">
              <a:ext uri="{FF2B5EF4-FFF2-40B4-BE49-F238E27FC236}">
                <a16:creationId xmlns:a16="http://schemas.microsoft.com/office/drawing/2014/main" id="{9614B0FE-FB1D-4521-B5EF-8C620F997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057400"/>
            <a:ext cx="1866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F9E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F9E74"/>
                </a:solidFill>
                <a:latin typeface="Helvetica Neue"/>
                <a:ea typeface="Helvetica Neue"/>
                <a:cs typeface="Helvetica Neue"/>
              </a:rPr>
              <a:t>PASS</a:t>
            </a:r>
          </a:p>
        </p:txBody>
      </p:sp>
      <p:sp>
        <p:nvSpPr>
          <p:cNvPr id="15" name="text-696-270">
            <a:extLst xmlns:a="http://schemas.openxmlformats.org/drawingml/2006/main">
              <a:ext uri="{FF2B5EF4-FFF2-40B4-BE49-F238E27FC236}">
                <a16:creationId xmlns:a16="http://schemas.microsoft.com/office/drawing/2014/main" id="{6D4E9E2E-64C8-4B42-89E0-54E8788EE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571750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19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Below threshold: generate normally.</a:t>
            </a:r>
          </a:p>
        </p:txBody>
      </p:sp>
      <p:sp>
        <p:nvSpPr>
          <p:cNvPr id="16" name="box-940-194">
            <a:extLst xmlns:a="http://schemas.openxmlformats.org/drawingml/2006/main">
              <a:ext uri="{FF2B5EF4-FFF2-40B4-BE49-F238E27FC236}">
                <a16:creationId xmlns:a16="http://schemas.microsoft.com/office/drawing/2014/main" id="{2A8B4372-5819-4731-A7AE-3331545CE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847850"/>
            <a:ext cx="236220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BEA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-966-216">
            <a:extLst xmlns:a="http://schemas.openxmlformats.org/drawingml/2006/main">
              <a:ext uri="{FF2B5EF4-FFF2-40B4-BE49-F238E27FC236}">
                <a16:creationId xmlns:a16="http://schemas.microsoft.com/office/drawing/2014/main" id="{61B325CB-6A85-4E5A-8AA9-5AA4E7189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57400"/>
            <a:ext cx="1866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54B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D54B5B"/>
                </a:solidFill>
                <a:latin typeface="Helvetica Neue"/>
                <a:ea typeface="Helvetica Neue"/>
                <a:cs typeface="Helvetica Neue"/>
              </a:rPr>
              <a:t>HARD STOP</a:t>
            </a:r>
          </a:p>
        </p:txBody>
      </p:sp>
      <p:sp>
        <p:nvSpPr>
          <p:cNvPr id="18" name="text-966-270">
            <a:extLst xmlns:a="http://schemas.openxmlformats.org/drawingml/2006/main">
              <a:ext uri="{FF2B5EF4-FFF2-40B4-BE49-F238E27FC236}">
                <a16:creationId xmlns:a16="http://schemas.microsoft.com/office/drawing/2014/main" id="{D77EF207-441C-47C4-B182-F1EF31C04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571750"/>
            <a:ext cx="1866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127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Return a fixed refusal before generation.</a:t>
            </a:r>
          </a:p>
        </p:txBody>
      </p:sp>
      <p:sp>
        <p:nvSpPr>
          <p:cNvPr id="19" name="box-670-374">
            <a:extLst xmlns:a="http://schemas.openxmlformats.org/drawingml/2006/main">
              <a:ext uri="{FF2B5EF4-FFF2-40B4-BE49-F238E27FC236}">
                <a16:creationId xmlns:a16="http://schemas.microsoft.com/office/drawing/2014/main" id="{22CE22FB-66C6-420B-A8D3-7739EFDF5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62350"/>
            <a:ext cx="49339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20" name="text-696-398">
            <a:extLst xmlns:a="http://schemas.openxmlformats.org/drawingml/2006/main">
              <a:ext uri="{FF2B5EF4-FFF2-40B4-BE49-F238E27FC236}">
                <a16:creationId xmlns:a16="http://schemas.microsoft.com/office/drawing/2014/main" id="{37FB712C-A433-40B4-A2C5-FDC1D5C15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790950"/>
            <a:ext cx="436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CIRCUIT BREAKER</a:t>
            </a:r>
          </a:p>
        </p:txBody>
      </p:sp>
      <p:sp>
        <p:nvSpPr>
          <p:cNvPr id="21" name="text-696-452">
            <a:extLst xmlns:a="http://schemas.openxmlformats.org/drawingml/2006/main">
              <a:ext uri="{FF2B5EF4-FFF2-40B4-BE49-F238E27FC236}">
                <a16:creationId xmlns:a16="http://schemas.microsoft.com/office/drawing/2014/main" id="{2E7FF838-F14F-4DC5-9E6D-AEF64EEFC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305300"/>
            <a:ext cx="4286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3838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Project the learned drift component out of residual activations, then generate with write hooks at permitted layers.</a:t>
            </a:r>
          </a:p>
        </p:txBody>
      </p:sp>
      <p:sp>
        <p:nvSpPr>
          <p:cNvPr id="22" name="text-42-430">
            <a:extLst xmlns:a="http://schemas.openxmlformats.org/drawingml/2006/main">
              <a:ext uri="{FF2B5EF4-FFF2-40B4-BE49-F238E27FC236}">
                <a16:creationId xmlns:a16="http://schemas.microsoft.com/office/drawing/2014/main" id="{DCE7104B-78BE-47DD-A0C7-7F0AAEF90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Current default</a:t>
            </a:r>
          </a:p>
        </p:txBody>
      </p:sp>
      <p:sp>
        <p:nvSpPr>
          <p:cNvPr id="23" name="text-42-474">
            <a:extLst xmlns:a="http://schemas.openxmlformats.org/drawingml/2006/main">
              <a:ext uri="{FF2B5EF4-FFF2-40B4-BE49-F238E27FC236}">
                <a16:creationId xmlns:a16="http://schemas.microsoft.com/office/drawing/2014/main" id="{E3B8CDD4-D5AF-4744-A311-79F0023B5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14850"/>
            <a:ext cx="533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435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circuit_breaker  •  β = 1.0  •  all token positions</a:t>
            </a:r>
          </a:p>
        </p:txBody>
      </p:sp>
    </p:spTree>
    <p:extLst>
      <p:ext uri="{BB962C8B-B14F-4D97-AF65-F5344CB8AC3E}">
        <p14:creationId xmlns:p14="http://schemas.microsoft.com/office/powerpoint/2010/main" val="35704012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42-34">
            <a:extLst xmlns:a="http://schemas.openxmlformats.org/drawingml/2006/main">
              <a:ext uri="{FF2B5EF4-FFF2-40B4-BE49-F238E27FC236}">
                <a16:creationId xmlns:a16="http://schemas.microsoft.com/office/drawing/2014/main" id="{3D5BCA9D-01A0-4A73-A18F-050833564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RESULTS SO FAR</a:t>
            </a:r>
          </a:p>
        </p:txBody>
      </p:sp>
      <p:sp>
        <p:nvSpPr>
          <p:cNvPr id="2" name="text-42-72">
            <a:extLst xmlns:a="http://schemas.openxmlformats.org/drawingml/2006/main">
              <a:ext uri="{FF2B5EF4-FFF2-40B4-BE49-F238E27FC236}">
                <a16:creationId xmlns:a16="http://schemas.microsoft.com/office/drawing/2014/main" id="{58874BFB-5D64-42E5-A62F-572B6EA0F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39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Held-out evasion hits zero; active attacks rebound</a:t>
            </a:r>
          </a:p>
        </p:txBody>
      </p:sp>
      <p:cxnSp>
        <p:nvCxnSpPr>
          <p:cNvPr id="18" name=""/>
          <p:cNvCxnSpPr/>
          <p:nvPr/>
        </p:nvCxnSpPr>
        <p:spPr>
          <a:xfrm xmlns:a="http://schemas.openxmlformats.org/drawingml/2006/main">
            <a:off x="400050" y="150495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text-42-668">
            <a:extLst xmlns:a="http://schemas.openxmlformats.org/drawingml/2006/main">
              <a:ext uri="{FF2B5EF4-FFF2-40B4-BE49-F238E27FC236}">
                <a16:creationId xmlns:a16="http://schemas.microsoft.com/office/drawing/2014/main" id="{02DBFCB0-7939-4F79-A910-4CB8EC0DA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feature/jacobian-drift-detector</a:t>
            </a:r>
          </a:p>
        </p:txBody>
      </p:sp>
      <p:sp>
        <p:nvSpPr>
          <p:cNvPr id="5" name="text-1180-668">
            <a:extLst xmlns:a="http://schemas.openxmlformats.org/drawingml/2006/main">
              <a:ext uri="{FF2B5EF4-FFF2-40B4-BE49-F238E27FC236}">
                <a16:creationId xmlns:a16="http://schemas.microsoft.com/office/drawing/2014/main" id="{5BA614F0-A542-4ECA-8474-3A82569C4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400050" y="1733550"/>
          <a:ext xmlns:a="http://schemas.openxmlformats.org/drawingml/2006/main" cx="72390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1316aac3b7a4218"/>
          </a:graphicData>
        </a:graphic>
      </p:graphicFrame>
      <p:sp>
        <p:nvSpPr>
          <p:cNvPr id="7" name="box-842-194">
            <a:extLst xmlns:a="http://schemas.openxmlformats.org/drawingml/2006/main">
              <a:ext uri="{FF2B5EF4-FFF2-40B4-BE49-F238E27FC236}">
                <a16:creationId xmlns:a16="http://schemas.microsoft.com/office/drawing/2014/main" id="{3BD7FAE0-9542-4C25-BCE1-832566670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47850"/>
            <a:ext cx="33528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870-212">
            <a:extLst xmlns:a="http://schemas.openxmlformats.org/drawingml/2006/main">
              <a:ext uri="{FF2B5EF4-FFF2-40B4-BE49-F238E27FC236}">
                <a16:creationId xmlns:a16="http://schemas.microsoft.com/office/drawing/2014/main" id="{B6A4C277-2C31-4B29-9001-C3425597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193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167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5.41%</a:t>
            </a:r>
          </a:p>
        </p:txBody>
      </p:sp>
      <p:sp>
        <p:nvSpPr>
          <p:cNvPr id="9" name="text-870-266">
            <a:extLst xmlns:a="http://schemas.openxmlformats.org/drawingml/2006/main">
              <a:ext uri="{FF2B5EF4-FFF2-40B4-BE49-F238E27FC236}">
                <a16:creationId xmlns:a16="http://schemas.microsoft.com/office/drawing/2014/main" id="{8B3FAD67-0DA9-40A4-B2A8-8B229815E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3365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mean held-out ASR in round 1</a:t>
            </a:r>
          </a:p>
        </p:txBody>
      </p:sp>
      <p:sp>
        <p:nvSpPr>
          <p:cNvPr id="10" name="box-842-332">
            <a:extLst xmlns:a="http://schemas.openxmlformats.org/drawingml/2006/main">
              <a:ext uri="{FF2B5EF4-FFF2-40B4-BE49-F238E27FC236}">
                <a16:creationId xmlns:a16="http://schemas.microsoft.com/office/drawing/2014/main" id="{5F609553-585F-41C8-ABDD-A0BA6DB43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62300"/>
            <a:ext cx="33528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870-350">
            <a:extLst xmlns:a="http://schemas.openxmlformats.org/drawingml/2006/main">
              <a:ext uri="{FF2B5EF4-FFF2-40B4-BE49-F238E27FC236}">
                <a16:creationId xmlns:a16="http://schemas.microsoft.com/office/drawing/2014/main" id="{0D52F77C-AD1B-4DA6-9819-B64CF9A05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3375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518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0% by round 3</a:t>
            </a:r>
          </a:p>
        </p:txBody>
      </p:sp>
      <p:sp>
        <p:nvSpPr>
          <p:cNvPr id="12" name="text-870-404">
            <a:extLst xmlns:a="http://schemas.openxmlformats.org/drawingml/2006/main">
              <a:ext uri="{FF2B5EF4-FFF2-40B4-BE49-F238E27FC236}">
                <a16:creationId xmlns:a16="http://schemas.microsoft.com/office/drawing/2014/main" id="{274EA49A-5BAA-4808-9BED-22E919760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84810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all three seeds; narrow benchmark</a:t>
            </a:r>
          </a:p>
        </p:txBody>
      </p:sp>
      <p:sp>
        <p:nvSpPr>
          <p:cNvPr id="13" name="box-842-470">
            <a:extLst xmlns:a="http://schemas.openxmlformats.org/drawingml/2006/main">
              <a:ext uri="{FF2B5EF4-FFF2-40B4-BE49-F238E27FC236}">
                <a16:creationId xmlns:a16="http://schemas.microsoft.com/office/drawing/2014/main" id="{91B8805E-CCA1-4E88-88D4-2FEC28F05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476750"/>
            <a:ext cx="33528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BEA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870-488">
            <a:extLst xmlns:a="http://schemas.openxmlformats.org/drawingml/2006/main">
              <a:ext uri="{FF2B5EF4-FFF2-40B4-BE49-F238E27FC236}">
                <a16:creationId xmlns:a16="http://schemas.microsoft.com/office/drawing/2014/main" id="{4C8B173D-DC2A-4EA3-87E4-B8CDF5E22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6482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167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D54B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D54B5B"/>
                </a:solidFill>
                <a:latin typeface="Helvetica Neue"/>
                <a:ea typeface="Helvetica Neue"/>
                <a:cs typeface="Helvetica Neue"/>
              </a:rPr>
              <a:t>7.75%</a:t>
            </a:r>
          </a:p>
        </p:txBody>
      </p:sp>
      <p:sp>
        <p:nvSpPr>
          <p:cNvPr id="15" name="text-870-542">
            <a:extLst xmlns:a="http://schemas.openxmlformats.org/drawingml/2006/main">
              <a:ext uri="{FF2B5EF4-FFF2-40B4-BE49-F238E27FC236}">
                <a16:creationId xmlns:a16="http://schemas.microsoft.com/office/drawing/2014/main" id="{F2646612-E38B-4719-99C2-F248988B0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162550"/>
            <a:ext cx="2819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552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mean active ASR rebounds at round 9 — adaptation is not monotonic.</a:t>
            </a:r>
          </a:p>
        </p:txBody>
      </p:sp>
    </p:spTree>
    <p:extLst>
      <p:ext uri="{BB962C8B-B14F-4D97-AF65-F5344CB8AC3E}">
        <p14:creationId xmlns:p14="http://schemas.microsoft.com/office/powerpoint/2010/main" val="167604502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42-34">
            <a:extLst xmlns:a="http://schemas.openxmlformats.org/drawingml/2006/main">
              <a:ext uri="{FF2B5EF4-FFF2-40B4-BE49-F238E27FC236}">
                <a16:creationId xmlns:a16="http://schemas.microsoft.com/office/drawing/2014/main" id="{B3ED793A-E237-4CC2-B67F-CB02DDA15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LAYER DIAGNOSTICS</a:t>
            </a:r>
          </a:p>
        </p:txBody>
      </p:sp>
      <p:sp>
        <p:nvSpPr>
          <p:cNvPr id="2" name="text-42-72">
            <a:extLst xmlns:a="http://schemas.openxmlformats.org/drawingml/2006/main">
              <a:ext uri="{FF2B5EF4-FFF2-40B4-BE49-F238E27FC236}">
                <a16:creationId xmlns:a16="http://schemas.microsoft.com/office/drawing/2014/main" id="{5B373B1B-9A1D-4F4F-A100-82816045C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39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711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Guard-10 amplifies the signal across all eight layers</a:t>
            </a:r>
          </a:p>
        </p:txBody>
      </p:sp>
      <p:cxnSp>
        <p:nvCxnSpPr>
          <p:cNvPr id="14" name=""/>
          <p:cNvCxnSpPr/>
          <p:nvPr/>
        </p:nvCxnSpPr>
        <p:spPr>
          <a:xfrm xmlns:a="http://schemas.openxmlformats.org/drawingml/2006/main">
            <a:off x="400050" y="150495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text-42-668">
            <a:extLst xmlns:a="http://schemas.openxmlformats.org/drawingml/2006/main">
              <a:ext uri="{FF2B5EF4-FFF2-40B4-BE49-F238E27FC236}">
                <a16:creationId xmlns:a16="http://schemas.microsoft.com/office/drawing/2014/main" id="{937E259F-46E3-47E5-AC8E-B971886C9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feature/jacobian-drift-detector</a:t>
            </a:r>
          </a:p>
        </p:txBody>
      </p:sp>
      <p:sp>
        <p:nvSpPr>
          <p:cNvPr id="5" name="text-1180-668">
            <a:extLst xmlns:a="http://schemas.openxmlformats.org/drawingml/2006/main">
              <a:ext uri="{FF2B5EF4-FFF2-40B4-BE49-F238E27FC236}">
                <a16:creationId xmlns:a16="http://schemas.microsoft.com/office/drawing/2014/main" id="{9B1B3036-8B8D-48F3-A30F-39DD6EF8A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6" name="text-42-178">
            <a:extLst xmlns:a="http://schemas.openxmlformats.org/drawingml/2006/main">
              <a:ext uri="{FF2B5EF4-FFF2-40B4-BE49-F238E27FC236}">
                <a16:creationId xmlns:a16="http://schemas.microsoft.com/office/drawing/2014/main" id="{3F49804B-2583-4188-A5AE-052FAFEC8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514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61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Guard-0</a:t>
            </a:r>
          </a:p>
        </p:txBody>
      </p:sp>
      <p:sp>
        <p:nvSpPr>
          <p:cNvPr id="7" name="text-650-178">
            <a:extLst xmlns:a="http://schemas.openxmlformats.org/drawingml/2006/main">
              <a:ext uri="{FF2B5EF4-FFF2-40B4-BE49-F238E27FC236}">
                <a16:creationId xmlns:a16="http://schemas.microsoft.com/office/drawing/2014/main" id="{90751BD6-FE4A-4B7F-AF38-4C176A6F8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95450"/>
            <a:ext cx="514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61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Guard-10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0050" y="2057400"/>
          <a:ext xmlns:a="http://schemas.openxmlformats.org/drawingml/2006/main" cx="5334000" cy="32194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fff2529d5324e1e"/>
          </a:graphicData>
        </a:graphic>
      </p:graphicFrame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6191250" y="2057400"/>
          <a:ext xmlns:a="http://schemas.openxmlformats.org/drawingml/2006/main" cx="5334000" cy="32194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22abe4b7fca4662"/>
          </a:graphicData>
        </a:graphic>
      </p:graphicFrame>
      <p:sp>
        <p:nvSpPr>
          <p:cNvPr id="10" name="box-42-574">
            <a:extLst xmlns:a="http://schemas.openxmlformats.org/drawingml/2006/main">
              <a:ext uri="{FF2B5EF4-FFF2-40B4-BE49-F238E27FC236}">
                <a16:creationId xmlns:a16="http://schemas.microsoft.com/office/drawing/2014/main" id="{5324AD4E-69AC-4258-8C2D-E1326570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67350"/>
            <a:ext cx="113919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66-588">
            <a:extLst xmlns:a="http://schemas.openxmlformats.org/drawingml/2006/main">
              <a:ext uri="{FF2B5EF4-FFF2-40B4-BE49-F238E27FC236}">
                <a16:creationId xmlns:a16="http://schemas.microsoft.com/office/drawing/2014/main" id="{E4272D25-BB75-4BA8-92ED-1C591F151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007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Same prompt deltas, stronger probe alignment—but near-1.0 saturation makes calibration the next test.</a:t>
            </a:r>
          </a:p>
        </p:txBody>
      </p:sp>
    </p:spTree>
    <p:extLst>
      <p:ext uri="{BB962C8B-B14F-4D97-AF65-F5344CB8AC3E}">
        <p14:creationId xmlns:p14="http://schemas.microsoft.com/office/powerpoint/2010/main" val="119303817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ext-42-34">
            <a:extLst xmlns:a="http://schemas.openxmlformats.org/drawingml/2006/main">
              <a:ext uri="{FF2B5EF4-FFF2-40B4-BE49-F238E27FC236}">
                <a16:creationId xmlns:a16="http://schemas.microsoft.com/office/drawing/2014/main" id="{D5A4881C-EF34-4EB3-BEE1-ADC2B31A2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TEST OUTPUTS</a:t>
            </a:r>
          </a:p>
        </p:txBody>
      </p:sp>
      <p:sp>
        <p:nvSpPr>
          <p:cNvPr id="2" name="text-42-72">
            <a:extLst xmlns:a="http://schemas.openxmlformats.org/drawingml/2006/main">
              <a:ext uri="{FF2B5EF4-FFF2-40B4-BE49-F238E27FC236}">
                <a16:creationId xmlns:a16="http://schemas.microsoft.com/office/drawing/2014/main" id="{EB3C77BF-8E02-4B4F-8F96-7E28EBB41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39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The results are traceable to inspectable artifacts</a:t>
            </a:r>
          </a:p>
        </p:txBody>
      </p:sp>
      <p:cxnSp>
        <p:nvCxnSpPr>
          <p:cNvPr id="29" name=""/>
          <p:cNvCxnSpPr/>
          <p:nvPr/>
        </p:nvCxnSpPr>
        <p:spPr>
          <a:xfrm xmlns:a="http://schemas.openxmlformats.org/drawingml/2006/main">
            <a:off x="400050" y="150495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text-42-668">
            <a:extLst xmlns:a="http://schemas.openxmlformats.org/drawingml/2006/main">
              <a:ext uri="{FF2B5EF4-FFF2-40B4-BE49-F238E27FC236}">
                <a16:creationId xmlns:a16="http://schemas.microsoft.com/office/drawing/2014/main" id="{D1245630-A1B4-4CB4-A05C-35D37A439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feature/jacobian-drift-detector</a:t>
            </a:r>
          </a:p>
        </p:txBody>
      </p:sp>
      <p:sp>
        <p:nvSpPr>
          <p:cNvPr id="5" name="text-1180-668">
            <a:extLst xmlns:a="http://schemas.openxmlformats.org/drawingml/2006/main">
              <a:ext uri="{FF2B5EF4-FFF2-40B4-BE49-F238E27FC236}">
                <a16:creationId xmlns:a16="http://schemas.microsoft.com/office/drawing/2014/main" id="{64CFB8B5-934B-4011-80BB-DF7922A76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6" name="text-42-190">
            <a:extLst xmlns:a="http://schemas.openxmlformats.org/drawingml/2006/main">
              <a:ext uri="{FF2B5EF4-FFF2-40B4-BE49-F238E27FC236}">
                <a16:creationId xmlns:a16="http://schemas.microsoft.com/office/drawing/2014/main" id="{240AA5B8-47F3-4454-9640-EEB600FF3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Layer diagnostics</a:t>
            </a:r>
          </a:p>
        </p:txBody>
      </p:sp>
      <p:sp>
        <p:nvSpPr>
          <p:cNvPr id="7" name="text-42-250">
            <a:extLst xmlns:a="http://schemas.openxmlformats.org/drawingml/2006/main">
              <a:ext uri="{FF2B5EF4-FFF2-40B4-BE49-F238E27FC236}">
                <a16:creationId xmlns:a16="http://schemas.microsoft.com/office/drawing/2014/main" id="{95013354-8C88-4899-8EF7-04DCC0809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Standalone diagnostic</a:t>
            </a:r>
          </a:p>
        </p:txBody>
      </p:sp>
      <p:sp>
        <p:nvSpPr>
          <p:cNvPr id="8" name="text-342-248">
            <a:extLst xmlns:a="http://schemas.openxmlformats.org/drawingml/2006/main">
              <a:ext uri="{FF2B5EF4-FFF2-40B4-BE49-F238E27FC236}">
                <a16:creationId xmlns:a16="http://schemas.microsoft.com/office/drawing/2014/main" id="{782D6422-A3FF-4E8B-A6BB-D3BEAF2FB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3622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852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Re-run one checkpoint without the full evolution loop</a:t>
            </a:r>
          </a:p>
        </p:txBody>
      </p:sp>
      <p:sp>
        <p:nvSpPr>
          <p:cNvPr id="9" name="text-42-328">
            <a:extLst xmlns:a="http://schemas.openxmlformats.org/drawingml/2006/main">
              <a:ext uri="{FF2B5EF4-FFF2-40B4-BE49-F238E27FC236}">
                <a16:creationId xmlns:a16="http://schemas.microsoft.com/office/drawing/2014/main" id="{B917FB1B-3404-49F1-901C-70D1C9083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242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Per-prompt / per-layer scores</a:t>
            </a:r>
          </a:p>
        </p:txBody>
      </p:sp>
      <p:sp>
        <p:nvSpPr>
          <p:cNvPr id="10" name="text-342-326">
            <a:extLst xmlns:a="http://schemas.openxmlformats.org/drawingml/2006/main">
              <a:ext uri="{FF2B5EF4-FFF2-40B4-BE49-F238E27FC236}">
                <a16:creationId xmlns:a16="http://schemas.microsoft.com/office/drawing/2014/main" id="{730B2C39-CA8D-4B63-93B7-7A9822DE6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10515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5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Raw evidence for each prompt and hooked layer</a:t>
            </a:r>
          </a:p>
        </p:txBody>
      </p:sp>
      <p:sp>
        <p:nvSpPr>
          <p:cNvPr id="11" name="text-42-406">
            <a:extLst xmlns:a="http://schemas.openxmlformats.org/drawingml/2006/main">
              <a:ext uri="{FF2B5EF4-FFF2-40B4-BE49-F238E27FC236}">
                <a16:creationId xmlns:a16="http://schemas.microsoft.com/office/drawing/2014/main" id="{5AC44FC9-F091-4C73-B066-E9D37FED1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671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Layer summary + report</a:t>
            </a:r>
          </a:p>
        </p:txBody>
      </p:sp>
      <p:sp>
        <p:nvSpPr>
          <p:cNvPr id="12" name="text-342-404">
            <a:extLst xmlns:a="http://schemas.openxmlformats.org/drawingml/2006/main">
              <a:ext uri="{FF2B5EF4-FFF2-40B4-BE49-F238E27FC236}">
                <a16:creationId xmlns:a16="http://schemas.microsoft.com/office/drawing/2014/main" id="{E8DBDF04-3433-4569-BA13-F4E829209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8481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66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Means, spread, detection rate, and activation magnitude</a:t>
            </a:r>
          </a:p>
        </p:txBody>
      </p:sp>
      <p:sp>
        <p:nvSpPr>
          <p:cNvPr id="13" name="text-42-484">
            <a:extLst xmlns:a="http://schemas.openxmlformats.org/drawingml/2006/main">
              <a:ext uri="{FF2B5EF4-FFF2-40B4-BE49-F238E27FC236}">
                <a16:creationId xmlns:a16="http://schemas.microsoft.com/office/drawing/2014/main" id="{4EF54937-2680-42E3-82E0-E85861D05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101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Guard-0 / Guard-10 plots</a:t>
            </a:r>
          </a:p>
        </p:txBody>
      </p:sp>
      <p:sp>
        <p:nvSpPr>
          <p:cNvPr id="14" name="text-342-482">
            <a:extLst xmlns:a="http://schemas.openxmlformats.org/drawingml/2006/main">
              <a:ext uri="{FF2B5EF4-FFF2-40B4-BE49-F238E27FC236}">
                <a16:creationId xmlns:a16="http://schemas.microsoft.com/office/drawing/2014/main" id="{F915BC3D-3AA3-4EE3-8F42-907A4F5FB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59105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5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Before-and-after view of learned probe alignment</a:t>
            </a:r>
          </a:p>
        </p:txBody>
      </p:sp>
      <p:cxnSp>
        <p:nvCxnSpPr>
          <p:cNvPr id="41" name=""/>
          <p:cNvCxnSpPr/>
          <p:nvPr/>
        </p:nvCxnSpPr>
        <p:spPr>
          <a:xfrm xmlns:a="http://schemas.openxmlformats.org/drawingml/2006/main">
            <a:off x="5905500" y="1790700"/>
            <a:ext cx="95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6" name="text-670-190">
            <a:extLst xmlns:a="http://schemas.openxmlformats.org/drawingml/2006/main">
              <a:ext uri="{FF2B5EF4-FFF2-40B4-BE49-F238E27FC236}">
                <a16:creationId xmlns:a16="http://schemas.microsoft.com/office/drawing/2014/main" id="{1EDFB6C1-AAF4-4FBF-BB87-265D129A2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097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54B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D54B5B"/>
                </a:solidFill>
                <a:latin typeface="Helvetica Neue"/>
                <a:ea typeface="Helvetica Neue"/>
                <a:cs typeface="Helvetica Neue"/>
              </a:rPr>
              <a:t>Evolution run</a:t>
            </a:r>
          </a:p>
        </p:txBody>
      </p:sp>
      <p:sp>
        <p:nvSpPr>
          <p:cNvPr id="17" name="text-670-250">
            <a:extLst xmlns:a="http://schemas.openxmlformats.org/drawingml/2006/main">
              <a:ext uri="{FF2B5EF4-FFF2-40B4-BE49-F238E27FC236}">
                <a16:creationId xmlns:a16="http://schemas.microsoft.com/office/drawing/2014/main" id="{C54489FF-46DB-423F-9245-F04C3AE10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81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Full run summary</a:t>
            </a:r>
          </a:p>
        </p:txBody>
      </p:sp>
      <p:sp>
        <p:nvSpPr>
          <p:cNvPr id="18" name="text-930-248">
            <a:extLst xmlns:a="http://schemas.openxmlformats.org/drawingml/2006/main">
              <a:ext uri="{FF2B5EF4-FFF2-40B4-BE49-F238E27FC236}">
                <a16:creationId xmlns:a16="http://schemas.microsoft.com/office/drawing/2014/main" id="{D664F4A4-5C6F-482D-8193-171C8502A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6220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5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Round-by-round outcomes and admitted strategies</a:t>
            </a:r>
          </a:p>
        </p:txBody>
      </p:sp>
      <p:sp>
        <p:nvSpPr>
          <p:cNvPr id="19" name="text-670-328">
            <a:extLst xmlns:a="http://schemas.openxmlformats.org/drawingml/2006/main">
              <a:ext uri="{FF2B5EF4-FFF2-40B4-BE49-F238E27FC236}">
                <a16:creationId xmlns:a16="http://schemas.microsoft.com/office/drawing/2014/main" id="{4824FCE6-DC13-4F41-A17B-583403DFE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242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Round metrics</a:t>
            </a:r>
          </a:p>
        </p:txBody>
      </p:sp>
      <p:sp>
        <p:nvSpPr>
          <p:cNvPr id="20" name="text-930-326">
            <a:extLst xmlns:a="http://schemas.openxmlformats.org/drawingml/2006/main">
              <a:ext uri="{FF2B5EF4-FFF2-40B4-BE49-F238E27FC236}">
                <a16:creationId xmlns:a16="http://schemas.microsoft.com/office/drawing/2014/main" id="{351C1F9A-E462-4B12-BCCA-FED40D13D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051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5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ASR, recall, benign pass rate, pool growth</a:t>
            </a:r>
          </a:p>
        </p:txBody>
      </p:sp>
      <p:sp>
        <p:nvSpPr>
          <p:cNvPr id="21" name="text-670-406">
            <a:extLst xmlns:a="http://schemas.openxmlformats.org/drawingml/2006/main">
              <a:ext uri="{FF2B5EF4-FFF2-40B4-BE49-F238E27FC236}">
                <a16:creationId xmlns:a16="http://schemas.microsoft.com/office/drawing/2014/main" id="{00F83941-5736-48C9-8E83-327F78DBC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671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Held-out families</a:t>
            </a:r>
          </a:p>
        </p:txBody>
      </p:sp>
      <p:sp>
        <p:nvSpPr>
          <p:cNvPr id="22" name="text-930-404">
            <a:extLst xmlns:a="http://schemas.openxmlformats.org/drawingml/2006/main">
              <a:ext uri="{FF2B5EF4-FFF2-40B4-BE49-F238E27FC236}">
                <a16:creationId xmlns:a16="http://schemas.microsoft.com/office/drawing/2014/main" id="{64F5F2DB-4B2E-42C8-9E23-CA2E87B5C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84810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5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154 transformed cases broken down by family</a:t>
            </a:r>
          </a:p>
        </p:txBody>
      </p:sp>
      <p:sp>
        <p:nvSpPr>
          <p:cNvPr id="23" name="text-670-484">
            <a:extLst xmlns:a="http://schemas.openxmlformats.org/drawingml/2006/main">
              <a:ext uri="{FF2B5EF4-FFF2-40B4-BE49-F238E27FC236}">
                <a16:creationId xmlns:a16="http://schemas.microsoft.com/office/drawing/2014/main" id="{5B9A754F-85D4-413C-9BC2-1C7ADF2D3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6101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Review queue</a:t>
            </a:r>
          </a:p>
        </p:txBody>
      </p:sp>
      <p:sp>
        <p:nvSpPr>
          <p:cNvPr id="24" name="text-930-482">
            <a:extLst xmlns:a="http://schemas.openxmlformats.org/drawingml/2006/main">
              <a:ext uri="{FF2B5EF4-FFF2-40B4-BE49-F238E27FC236}">
                <a16:creationId xmlns:a16="http://schemas.microsoft.com/office/drawing/2014/main" id="{B0D17DDD-311A-4B8F-9DFD-4DE2D82E2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5910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70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Low-confidence pseudo-labels held for human review</a:t>
            </a:r>
          </a:p>
        </p:txBody>
      </p:sp>
      <p:sp>
        <p:nvSpPr>
          <p:cNvPr id="25" name="box-42-582">
            <a:extLst xmlns:a="http://schemas.openxmlformats.org/drawingml/2006/main">
              <a:ext uri="{FF2B5EF4-FFF2-40B4-BE49-F238E27FC236}">
                <a16:creationId xmlns:a16="http://schemas.microsoft.com/office/drawing/2014/main" id="{368FB362-5F44-4BA0-81C4-8473130B8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43550"/>
            <a:ext cx="113919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BEA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-66-595">
            <a:extLst xmlns:a="http://schemas.openxmlformats.org/drawingml/2006/main">
              <a:ext uri="{FF2B5EF4-FFF2-40B4-BE49-F238E27FC236}">
                <a16:creationId xmlns:a16="http://schemas.microsoft.com/office/drawing/2014/main" id="{BCD41DCB-3A80-4B5C-BAEC-21466E48E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67375"/>
            <a:ext cx="10934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D54B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D54B5B"/>
                </a:solidFill>
                <a:latin typeface="Helvetica Neue"/>
                <a:ea typeface="Helvetica Neue"/>
                <a:cs typeface="Helvetica Neue"/>
              </a:rPr>
              <a:t>Gap: outputs are gitignored; publish a versioned result bundle before team review.</a:t>
            </a:r>
          </a:p>
        </p:txBody>
      </p:sp>
    </p:spTree>
    <p:extLst>
      <p:ext uri="{BB962C8B-B14F-4D97-AF65-F5344CB8AC3E}">
        <p14:creationId xmlns:p14="http://schemas.microsoft.com/office/powerpoint/2010/main" val="106347192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ext-42-34">
            <a:extLst xmlns:a="http://schemas.openxmlformats.org/drawingml/2006/main">
              <a:ext uri="{FF2B5EF4-FFF2-40B4-BE49-F238E27FC236}">
                <a16:creationId xmlns:a16="http://schemas.microsoft.com/office/drawing/2014/main" id="{E5F576E8-53CC-40BD-A6EF-76B74A49D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EVIDENCE QUALITY</a:t>
            </a:r>
          </a:p>
        </p:txBody>
      </p:sp>
      <p:sp>
        <p:nvSpPr>
          <p:cNvPr id="2" name="text-42-72">
            <a:extLst xmlns:a="http://schemas.openxmlformats.org/drawingml/2006/main">
              <a:ext uri="{FF2B5EF4-FFF2-40B4-BE49-F238E27FC236}">
                <a16:creationId xmlns:a16="http://schemas.microsoft.com/office/drawing/2014/main" id="{19E2B783-B819-4214-A88D-013F36FC6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39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2859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The prototype is well-tested; the empirical claim is still narrow</a:t>
            </a:r>
          </a:p>
        </p:txBody>
      </p:sp>
      <p:cxnSp>
        <p:nvCxnSpPr>
          <p:cNvPr id="27" name=""/>
          <p:cNvCxnSpPr/>
          <p:nvPr/>
        </p:nvCxnSpPr>
        <p:spPr>
          <a:xfrm xmlns:a="http://schemas.openxmlformats.org/drawingml/2006/main">
            <a:off x="400050" y="150495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text-42-668">
            <a:extLst xmlns:a="http://schemas.openxmlformats.org/drawingml/2006/main">
              <a:ext uri="{FF2B5EF4-FFF2-40B4-BE49-F238E27FC236}">
                <a16:creationId xmlns:a16="http://schemas.microsoft.com/office/drawing/2014/main" id="{99C90980-824B-4BF8-8890-A6040997E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feature/jacobian-drift-detector</a:t>
            </a:r>
          </a:p>
        </p:txBody>
      </p:sp>
      <p:sp>
        <p:nvSpPr>
          <p:cNvPr id="5" name="text-1180-668">
            <a:extLst xmlns:a="http://schemas.openxmlformats.org/drawingml/2006/main">
              <a:ext uri="{FF2B5EF4-FFF2-40B4-BE49-F238E27FC236}">
                <a16:creationId xmlns:a16="http://schemas.microsoft.com/office/drawing/2014/main" id="{7198EC9D-6B6C-4C83-BED6-BACDCD96E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6" name="box-42-188">
            <a:extLst xmlns:a="http://schemas.openxmlformats.org/drawingml/2006/main">
              <a:ext uri="{FF2B5EF4-FFF2-40B4-BE49-F238E27FC236}">
                <a16:creationId xmlns:a16="http://schemas.microsoft.com/office/drawing/2014/main" id="{013041E2-E091-4FAA-8A1B-8E5B1E86E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35242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70-214">
            <a:extLst xmlns:a="http://schemas.openxmlformats.org/drawingml/2006/main">
              <a:ext uri="{FF2B5EF4-FFF2-40B4-BE49-F238E27FC236}">
                <a16:creationId xmlns:a16="http://schemas.microsoft.com/office/drawing/2014/main" id="{476CB11B-80CD-4D6D-8131-2CA209B12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2971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927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F9E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2F9E74"/>
                </a:solidFill>
                <a:latin typeface="Helvetica Neue"/>
                <a:ea typeface="Helvetica Neue"/>
                <a:cs typeface="Helvetica Neue"/>
              </a:rPr>
              <a:t>70 / 70</a:t>
            </a:r>
          </a:p>
        </p:txBody>
      </p:sp>
      <p:sp>
        <p:nvSpPr>
          <p:cNvPr id="8" name="text-70-286">
            <a:extLst xmlns:a="http://schemas.openxmlformats.org/drawingml/2006/main">
              <a:ext uri="{FF2B5EF4-FFF2-40B4-BE49-F238E27FC236}">
                <a16:creationId xmlns:a16="http://schemas.microsoft.com/office/drawing/2014/main" id="{B1062457-32D9-4F05-A1F6-6DE24B04B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2971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tests passing</a:t>
            </a:r>
          </a:p>
        </p:txBody>
      </p:sp>
      <p:sp>
        <p:nvSpPr>
          <p:cNvPr id="9" name="box-442-188">
            <a:extLst xmlns:a="http://schemas.openxmlformats.org/drawingml/2006/main">
              <a:ext uri="{FF2B5EF4-FFF2-40B4-BE49-F238E27FC236}">
                <a16:creationId xmlns:a16="http://schemas.microsoft.com/office/drawing/2014/main" id="{E5D6441B-4145-4D1D-9778-DD230B64B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790700"/>
            <a:ext cx="35242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470-214">
            <a:extLst xmlns:a="http://schemas.openxmlformats.org/drawingml/2006/main">
              <a:ext uri="{FF2B5EF4-FFF2-40B4-BE49-F238E27FC236}">
                <a16:creationId xmlns:a16="http://schemas.microsoft.com/office/drawing/2014/main" id="{B75DCA12-16B0-48F0-B387-C4BE06401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38350"/>
            <a:ext cx="2971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927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3 × 10</a:t>
            </a:r>
          </a:p>
        </p:txBody>
      </p:sp>
      <p:sp>
        <p:nvSpPr>
          <p:cNvPr id="11" name="text-470-286">
            <a:extLst xmlns:a="http://schemas.openxmlformats.org/drawingml/2006/main">
              <a:ext uri="{FF2B5EF4-FFF2-40B4-BE49-F238E27FC236}">
                <a16:creationId xmlns:a16="http://schemas.microsoft.com/office/drawing/2014/main" id="{E29B2235-B0D7-473B-947B-524B29AFA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24150"/>
            <a:ext cx="2971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seeds × rounds</a:t>
            </a:r>
          </a:p>
        </p:txBody>
      </p:sp>
      <p:sp>
        <p:nvSpPr>
          <p:cNvPr id="12" name="box-842-188">
            <a:extLst xmlns:a="http://schemas.openxmlformats.org/drawingml/2006/main">
              <a:ext uri="{FF2B5EF4-FFF2-40B4-BE49-F238E27FC236}">
                <a16:creationId xmlns:a16="http://schemas.microsoft.com/office/drawing/2014/main" id="{55594262-3CDA-4885-89EE-F77FE0966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90700"/>
            <a:ext cx="35242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870-214">
            <a:extLst xmlns:a="http://schemas.openxmlformats.org/drawingml/2006/main">
              <a:ext uri="{FF2B5EF4-FFF2-40B4-BE49-F238E27FC236}">
                <a16:creationId xmlns:a16="http://schemas.microsoft.com/office/drawing/2014/main" id="{ED74A152-2D92-4E4C-9220-1458C5CDB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38350"/>
            <a:ext cx="2971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927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D54B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D54B5B"/>
                </a:solidFill>
                <a:latin typeface="Helvetica Neue"/>
                <a:ea typeface="Helvetica Neue"/>
                <a:cs typeface="Helvetica Neue"/>
              </a:rPr>
              <a:t>154</a:t>
            </a:r>
          </a:p>
        </p:txBody>
      </p:sp>
      <p:sp>
        <p:nvSpPr>
          <p:cNvPr id="14" name="text-870-286">
            <a:extLst xmlns:a="http://schemas.openxmlformats.org/drawingml/2006/main">
              <a:ext uri="{FF2B5EF4-FFF2-40B4-BE49-F238E27FC236}">
                <a16:creationId xmlns:a16="http://schemas.microsoft.com/office/drawing/2014/main" id="{51DFF990-D6B8-47C3-9D94-019C2F8BF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24150"/>
            <a:ext cx="2971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557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held-out transformations per seed</a:t>
            </a:r>
          </a:p>
        </p:txBody>
      </p:sp>
      <p:sp>
        <p:nvSpPr>
          <p:cNvPr id="15" name="text-42-406">
            <a:extLst xmlns:a="http://schemas.openxmlformats.org/drawingml/2006/main">
              <a:ext uri="{FF2B5EF4-FFF2-40B4-BE49-F238E27FC236}">
                <a16:creationId xmlns:a16="http://schemas.microsoft.com/office/drawing/2014/main" id="{3D67B456-3B68-478A-9C22-9AAD7C237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67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026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What the result does support</a:t>
            </a:r>
          </a:p>
        </p:txBody>
      </p:sp>
      <p:sp>
        <p:nvSpPr>
          <p:cNvPr id="16" name="box-42-466">
            <a:extLst xmlns:a="http://schemas.openxmlformats.org/drawingml/2006/main">
              <a:ext uri="{FF2B5EF4-FFF2-40B4-BE49-F238E27FC236}">
                <a16:creationId xmlns:a16="http://schemas.microsoft.com/office/drawing/2014/main" id="{91878706-17A7-4AF4-B8A0-F3A84430D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38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9E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-66-456">
            <a:extLst xmlns:a="http://schemas.openxmlformats.org/drawingml/2006/main">
              <a:ext uri="{FF2B5EF4-FFF2-40B4-BE49-F238E27FC236}">
                <a16:creationId xmlns:a16="http://schemas.microsoft.com/office/drawing/2014/main" id="{DD8B989B-9C81-4CDE-879F-5AE8ACB0A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434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Repeatability across three random seeds on one fixed HarmBench/AdvBench split.</a:t>
            </a:r>
          </a:p>
        </p:txBody>
      </p:sp>
      <p:sp>
        <p:nvSpPr>
          <p:cNvPr id="18" name="box-42-534">
            <a:extLst xmlns:a="http://schemas.openxmlformats.org/drawingml/2006/main">
              <a:ext uri="{FF2B5EF4-FFF2-40B4-BE49-F238E27FC236}">
                <a16:creationId xmlns:a16="http://schemas.microsoft.com/office/drawing/2014/main" id="{9772F9D9-802D-47DA-ADD0-F164695AE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86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9E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66-524">
            <a:extLst xmlns:a="http://schemas.openxmlformats.org/drawingml/2006/main">
              <a:ext uri="{FF2B5EF4-FFF2-40B4-BE49-F238E27FC236}">
                <a16:creationId xmlns:a16="http://schemas.microsoft.com/office/drawing/2014/main" id="{4A2437AE-CC55-47FF-ACD4-0DB7827F0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911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A working end-to-end pipeline: hooks → probe → evolution → evaluation → plots.</a:t>
            </a:r>
          </a:p>
        </p:txBody>
      </p:sp>
      <p:sp>
        <p:nvSpPr>
          <p:cNvPr id="20" name="text-650-406">
            <a:extLst xmlns:a="http://schemas.openxmlformats.org/drawingml/2006/main">
              <a:ext uri="{FF2B5EF4-FFF2-40B4-BE49-F238E27FC236}">
                <a16:creationId xmlns:a16="http://schemas.microsoft.com/office/drawing/2014/main" id="{111B901B-5C44-481A-8720-EE536AC93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67150"/>
            <a:ext cx="514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026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What it does not yet support</a:t>
            </a:r>
          </a:p>
        </p:txBody>
      </p:sp>
      <p:sp>
        <p:nvSpPr>
          <p:cNvPr id="21" name="box-650-466">
            <a:extLst xmlns:a="http://schemas.openxmlformats.org/drawingml/2006/main">
              <a:ext uri="{FF2B5EF4-FFF2-40B4-BE49-F238E27FC236}">
                <a16:creationId xmlns:a16="http://schemas.microsoft.com/office/drawing/2014/main" id="{1C6EF177-0531-4009-ACE1-18CAB2CE3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38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4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-674-456">
            <a:extLst xmlns:a="http://schemas.openxmlformats.org/drawingml/2006/main">
              <a:ext uri="{FF2B5EF4-FFF2-40B4-BE49-F238E27FC236}">
                <a16:creationId xmlns:a16="http://schemas.microsoft.com/office/drawing/2014/main" id="{AB216892-BFAF-4984-8658-16E25AB5A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343400"/>
            <a:ext cx="514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Broad robustness: only 7 base held-out prompts and one model family.</a:t>
            </a:r>
          </a:p>
        </p:txBody>
      </p:sp>
      <p:sp>
        <p:nvSpPr>
          <p:cNvPr id="23" name="box-650-534">
            <a:extLst xmlns:a="http://schemas.openxmlformats.org/drawingml/2006/main">
              <a:ext uri="{FF2B5EF4-FFF2-40B4-BE49-F238E27FC236}">
                <a16:creationId xmlns:a16="http://schemas.microsoft.com/office/drawing/2014/main" id="{E591E21C-5B15-444B-B662-34B1E2D94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86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4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-674-524">
            <a:extLst xmlns:a="http://schemas.openxmlformats.org/drawingml/2006/main">
              <a:ext uri="{FF2B5EF4-FFF2-40B4-BE49-F238E27FC236}">
                <a16:creationId xmlns:a16="http://schemas.microsoft.com/office/drawing/2014/main" id="{D783525A-FE4D-4055-AC1F-86751F8CA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991100"/>
            <a:ext cx="514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Response safety: ASR is threshold evasion, not a harmful-output judge.</a:t>
            </a:r>
          </a:p>
        </p:txBody>
      </p:sp>
    </p:spTree>
    <p:extLst>
      <p:ext uri="{BB962C8B-B14F-4D97-AF65-F5344CB8AC3E}">
        <p14:creationId xmlns:p14="http://schemas.microsoft.com/office/powerpoint/2010/main" val="189580596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text-42-34">
            <a:extLst xmlns:a="http://schemas.openxmlformats.org/drawingml/2006/main">
              <a:ext uri="{FF2B5EF4-FFF2-40B4-BE49-F238E27FC236}">
                <a16:creationId xmlns:a16="http://schemas.microsoft.com/office/drawing/2014/main" id="{508728FF-6234-4B67-A766-6415D885F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WHAT STILL NEEDS TO BE DONE</a:t>
            </a:r>
          </a:p>
        </p:txBody>
      </p:sp>
      <p:sp>
        <p:nvSpPr>
          <p:cNvPr id="2" name="text-42-72">
            <a:extLst xmlns:a="http://schemas.openxmlformats.org/drawingml/2006/main">
              <a:ext uri="{FF2B5EF4-FFF2-40B4-BE49-F238E27FC236}">
                <a16:creationId xmlns:a16="http://schemas.microsoft.com/office/drawing/2014/main" id="{C79BA65E-5714-4AF9-9BD8-B904C972A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39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Next milestone: a harder, independent evaluation</a:t>
            </a:r>
          </a:p>
        </p:txBody>
      </p:sp>
      <p:cxnSp>
        <p:nvCxnSpPr>
          <p:cNvPr id="34" name=""/>
          <p:cNvCxnSpPr/>
          <p:nvPr/>
        </p:nvCxnSpPr>
        <p:spPr>
          <a:xfrm xmlns:a="http://schemas.openxmlformats.org/drawingml/2006/main">
            <a:off x="400050" y="150495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text-42-668">
            <a:extLst xmlns:a="http://schemas.openxmlformats.org/drawingml/2006/main">
              <a:ext uri="{FF2B5EF4-FFF2-40B4-BE49-F238E27FC236}">
                <a16:creationId xmlns:a16="http://schemas.microsoft.com/office/drawing/2014/main" id="{3D2D13B7-90BA-4362-AD59-A5D0235AA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feature/jacobian-drift-detector</a:t>
            </a:r>
          </a:p>
        </p:txBody>
      </p:sp>
      <p:sp>
        <p:nvSpPr>
          <p:cNvPr id="5" name="text-1180-668">
            <a:extLst xmlns:a="http://schemas.openxmlformats.org/drawingml/2006/main">
              <a:ext uri="{FF2B5EF4-FFF2-40B4-BE49-F238E27FC236}">
                <a16:creationId xmlns:a16="http://schemas.microsoft.com/office/drawing/2014/main" id="{6C09AC16-2FD5-4CCE-951C-AAAA1B88E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6" name="text-42-198">
            <a:extLst xmlns:a="http://schemas.openxmlformats.org/drawingml/2006/main">
              <a:ext uri="{FF2B5EF4-FFF2-40B4-BE49-F238E27FC236}">
                <a16:creationId xmlns:a16="http://schemas.microsoft.com/office/drawing/2014/main" id="{868D073C-70E7-4699-A9F9-18CF828C1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859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text-42-240">
            <a:extLst xmlns:a="http://schemas.openxmlformats.org/drawingml/2006/main">
              <a:ext uri="{FF2B5EF4-FFF2-40B4-BE49-F238E27FC236}">
                <a16:creationId xmlns:a16="http://schemas.microsoft.com/office/drawing/2014/main" id="{E1F32FAC-CD48-48B3-A3FD-85E4DB411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Scientific rigor</a:t>
            </a:r>
          </a:p>
        </p:txBody>
      </p:sp>
      <p:sp>
        <p:nvSpPr>
          <p:cNvPr id="8" name="box-42-320">
            <a:extLst xmlns:a="http://schemas.openxmlformats.org/drawingml/2006/main">
              <a:ext uri="{FF2B5EF4-FFF2-40B4-BE49-F238E27FC236}">
                <a16:creationId xmlns:a16="http://schemas.microsoft.com/office/drawing/2014/main" id="{08BC286E-9A78-4D74-9BA5-420FE2BE3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66-310">
            <a:extLst xmlns:a="http://schemas.openxmlformats.org/drawingml/2006/main">
              <a:ext uri="{FF2B5EF4-FFF2-40B4-BE49-F238E27FC236}">
                <a16:creationId xmlns:a16="http://schemas.microsoft.com/office/drawing/2014/main" id="{E1B2C953-167A-414B-9411-4684CA5B4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52750"/>
            <a:ext cx="333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Larger, independently curated held-out suites</a:t>
            </a:r>
          </a:p>
        </p:txBody>
      </p:sp>
      <p:sp>
        <p:nvSpPr>
          <p:cNvPr id="10" name="box-42-394">
            <a:extLst xmlns:a="http://schemas.openxmlformats.org/drawingml/2006/main">
              <a:ext uri="{FF2B5EF4-FFF2-40B4-BE49-F238E27FC236}">
                <a16:creationId xmlns:a16="http://schemas.microsoft.com/office/drawing/2014/main" id="{CDDC9EA9-D0F6-455A-A2B8-B5DBAF73E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52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66-384">
            <a:extLst xmlns:a="http://schemas.openxmlformats.org/drawingml/2006/main">
              <a:ext uri="{FF2B5EF4-FFF2-40B4-BE49-F238E27FC236}">
                <a16:creationId xmlns:a16="http://schemas.microsoft.com/office/drawing/2014/main" id="{19844659-A85C-4058-845C-AF6A82DBA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57600"/>
            <a:ext cx="333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Multiple Qwen sizes and non-Qwen decoders</a:t>
            </a:r>
          </a:p>
        </p:txBody>
      </p:sp>
      <p:sp>
        <p:nvSpPr>
          <p:cNvPr id="12" name="box-42-468">
            <a:extLst xmlns:a="http://schemas.openxmlformats.org/drawingml/2006/main">
              <a:ext uri="{FF2B5EF4-FFF2-40B4-BE49-F238E27FC236}">
                <a16:creationId xmlns:a16="http://schemas.microsoft.com/office/drawing/2014/main" id="{ADD34B2B-B1C7-4673-B715-DB7D05597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57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66-458">
            <a:extLst xmlns:a="http://schemas.openxmlformats.org/drawingml/2006/main">
              <a:ext uri="{FF2B5EF4-FFF2-40B4-BE49-F238E27FC236}">
                <a16:creationId xmlns:a16="http://schemas.microsoft.com/office/drawing/2014/main" id="{5B54AFA5-D56A-43E6-8E53-03DD7F246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62450"/>
            <a:ext cx="333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Confidence intervals beyond three seeds</a:t>
            </a:r>
          </a:p>
        </p:txBody>
      </p:sp>
      <p:sp>
        <p:nvSpPr>
          <p:cNvPr id="14" name="text-442-198">
            <a:extLst xmlns:a="http://schemas.openxmlformats.org/drawingml/2006/main">
              <a:ext uri="{FF2B5EF4-FFF2-40B4-BE49-F238E27FC236}">
                <a16:creationId xmlns:a16="http://schemas.microsoft.com/office/drawing/2014/main" id="{D6EC9CA7-D007-4718-AA85-C4D5201CC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8859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5" name="text-442-240">
            <a:extLst xmlns:a="http://schemas.openxmlformats.org/drawingml/2006/main">
              <a:ext uri="{FF2B5EF4-FFF2-40B4-BE49-F238E27FC236}">
                <a16:creationId xmlns:a16="http://schemas.microsoft.com/office/drawing/2014/main" id="{347395C9-C75F-4724-9892-4F6E0A643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2860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Safety validity</a:t>
            </a:r>
          </a:p>
        </p:txBody>
      </p:sp>
      <p:sp>
        <p:nvSpPr>
          <p:cNvPr id="16" name="box-442-320">
            <a:extLst xmlns:a="http://schemas.openxmlformats.org/drawingml/2006/main">
              <a:ext uri="{FF2B5EF4-FFF2-40B4-BE49-F238E27FC236}">
                <a16:creationId xmlns:a16="http://schemas.microsoft.com/office/drawing/2014/main" id="{508043B7-4123-42DE-B502-9DB4C7B83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048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4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-466-310">
            <a:extLst xmlns:a="http://schemas.openxmlformats.org/drawingml/2006/main">
              <a:ext uri="{FF2B5EF4-FFF2-40B4-BE49-F238E27FC236}">
                <a16:creationId xmlns:a16="http://schemas.microsoft.com/office/drawing/2014/main" id="{EB6A514F-AC9B-4543-A3D9-7C84A7568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952750"/>
            <a:ext cx="333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Response-level harmfulness evaluation</a:t>
            </a:r>
          </a:p>
        </p:txBody>
      </p:sp>
      <p:sp>
        <p:nvSpPr>
          <p:cNvPr id="18" name="box-442-394">
            <a:extLst xmlns:a="http://schemas.openxmlformats.org/drawingml/2006/main">
              <a:ext uri="{FF2B5EF4-FFF2-40B4-BE49-F238E27FC236}">
                <a16:creationId xmlns:a16="http://schemas.microsoft.com/office/drawing/2014/main" id="{03B5A10E-914F-4F0E-9F3A-7A7E774D7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752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4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466-384">
            <a:extLst xmlns:a="http://schemas.openxmlformats.org/drawingml/2006/main">
              <a:ext uri="{FF2B5EF4-FFF2-40B4-BE49-F238E27FC236}">
                <a16:creationId xmlns:a16="http://schemas.microsoft.com/office/drawing/2014/main" id="{7CE26B1E-AA0F-4A01-9869-DBC7CF728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657600"/>
            <a:ext cx="333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Threshold calibration and false-positive analysis</a:t>
            </a:r>
          </a:p>
        </p:txBody>
      </p:sp>
      <p:sp>
        <p:nvSpPr>
          <p:cNvPr id="20" name="box-442-468">
            <a:extLst xmlns:a="http://schemas.openxmlformats.org/drawingml/2006/main">
              <a:ext uri="{FF2B5EF4-FFF2-40B4-BE49-F238E27FC236}">
                <a16:creationId xmlns:a16="http://schemas.microsoft.com/office/drawing/2014/main" id="{3E79C05F-6DAD-4370-8A02-122C4127E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457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4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-466-458">
            <a:extLst xmlns:a="http://schemas.openxmlformats.org/drawingml/2006/main">
              <a:ext uri="{FF2B5EF4-FFF2-40B4-BE49-F238E27FC236}">
                <a16:creationId xmlns:a16="http://schemas.microsoft.com/office/drawing/2014/main" id="{4F100133-6BA6-40FF-ACF3-682224C72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362450"/>
            <a:ext cx="333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Adaptive attacks outside the current strategy grammar</a:t>
            </a:r>
          </a:p>
        </p:txBody>
      </p:sp>
      <p:sp>
        <p:nvSpPr>
          <p:cNvPr id="22" name="text-842-198">
            <a:extLst xmlns:a="http://schemas.openxmlformats.org/drawingml/2006/main">
              <a:ext uri="{FF2B5EF4-FFF2-40B4-BE49-F238E27FC236}">
                <a16:creationId xmlns:a16="http://schemas.microsoft.com/office/drawing/2014/main" id="{52FD1421-468F-4E7F-9229-DBD0E83DE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859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3" name="text-842-240">
            <a:extLst xmlns:a="http://schemas.openxmlformats.org/drawingml/2006/main">
              <a:ext uri="{FF2B5EF4-FFF2-40B4-BE49-F238E27FC236}">
                <a16:creationId xmlns:a16="http://schemas.microsoft.com/office/drawing/2014/main" id="{1DA9EF5A-5C2D-4B78-A9CE-34614C806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860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Production path</a:t>
            </a:r>
          </a:p>
        </p:txBody>
      </p:sp>
      <p:sp>
        <p:nvSpPr>
          <p:cNvPr id="24" name="box-842-320">
            <a:extLst xmlns:a="http://schemas.openxmlformats.org/drawingml/2006/main">
              <a:ext uri="{FF2B5EF4-FFF2-40B4-BE49-F238E27FC236}">
                <a16:creationId xmlns:a16="http://schemas.microsoft.com/office/drawing/2014/main" id="{A425412F-9FB1-49F0-ADBA-E7A263785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48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-866-310">
            <a:extLst xmlns:a="http://schemas.openxmlformats.org/drawingml/2006/main">
              <a:ext uri="{FF2B5EF4-FFF2-40B4-BE49-F238E27FC236}">
                <a16:creationId xmlns:a16="http://schemas.microsoft.com/office/drawing/2014/main" id="{FA964861-544F-49B4-A1B6-51DF489DB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952750"/>
            <a:ext cx="333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Latency and memory profiling during generation</a:t>
            </a:r>
          </a:p>
        </p:txBody>
      </p:sp>
      <p:sp>
        <p:nvSpPr>
          <p:cNvPr id="26" name="box-842-394">
            <a:extLst xmlns:a="http://schemas.openxmlformats.org/drawingml/2006/main">
              <a:ext uri="{FF2B5EF4-FFF2-40B4-BE49-F238E27FC236}">
                <a16:creationId xmlns:a16="http://schemas.microsoft.com/office/drawing/2014/main" id="{B04D7CE1-9943-4F2D-A032-734EA7557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752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ext-866-384">
            <a:extLst xmlns:a="http://schemas.openxmlformats.org/drawingml/2006/main">
              <a:ext uri="{FF2B5EF4-FFF2-40B4-BE49-F238E27FC236}">
                <a16:creationId xmlns:a16="http://schemas.microsoft.com/office/drawing/2014/main" id="{12052429-07B4-434F-80BF-75E0E7F18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57600"/>
            <a:ext cx="333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Secure dataset/review-queue governance</a:t>
            </a:r>
          </a:p>
        </p:txBody>
      </p:sp>
      <p:sp>
        <p:nvSpPr>
          <p:cNvPr id="28" name="box-842-468">
            <a:extLst xmlns:a="http://schemas.openxmlformats.org/drawingml/2006/main">
              <a:ext uri="{FF2B5EF4-FFF2-40B4-BE49-F238E27FC236}">
                <a16:creationId xmlns:a16="http://schemas.microsoft.com/office/drawing/2014/main" id="{56651876-4B56-47F9-802D-59A17CAE0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457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text-866-458">
            <a:extLst xmlns:a="http://schemas.openxmlformats.org/drawingml/2006/main">
              <a:ext uri="{FF2B5EF4-FFF2-40B4-BE49-F238E27FC236}">
                <a16:creationId xmlns:a16="http://schemas.microsoft.com/office/drawing/2014/main" id="{AAD401D7-6003-4031-BBDD-4D3E04798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362450"/>
            <a:ext cx="333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55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Commit reproducible result summaries; remove model-download artifacts</a:t>
            </a:r>
          </a:p>
        </p:txBody>
      </p:sp>
      <p:sp>
        <p:nvSpPr>
          <p:cNvPr id="30" name="box-42-566">
            <a:extLst xmlns:a="http://schemas.openxmlformats.org/drawingml/2006/main">
              <a:ext uri="{FF2B5EF4-FFF2-40B4-BE49-F238E27FC236}">
                <a16:creationId xmlns:a16="http://schemas.microsoft.com/office/drawing/2014/main" id="{BE3D0B4D-255F-497E-A5BB-075749EDA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11391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ext-66-582">
            <a:extLst xmlns:a="http://schemas.openxmlformats.org/drawingml/2006/main">
              <a:ext uri="{FF2B5EF4-FFF2-40B4-BE49-F238E27FC236}">
                <a16:creationId xmlns:a16="http://schemas.microsoft.com/office/drawing/2014/main" id="{FFE8E642-8DBF-4D5B-8429-FCF059AAE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43550"/>
            <a:ext cx="10934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Recommended next step: freeze a validation protocol before adding more strategies.</a:t>
            </a:r>
          </a:p>
        </p:txBody>
      </p:sp>
    </p:spTree>
    <p:extLst>
      <p:ext uri="{BB962C8B-B14F-4D97-AF65-F5344CB8AC3E}">
        <p14:creationId xmlns:p14="http://schemas.microsoft.com/office/powerpoint/2010/main" val="8327178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2026-08-18T00:06:06.0180000Z</dcterms:created>
  <dcterms:modified xsi:type="dcterms:W3CDTF">2026-08-18T00:06:06.0180000Z</dcterms:modified>
</coreProperties>
</file>